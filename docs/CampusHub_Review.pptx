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11565de-03ab-2b3c-a670-8938c9b0f8e6}">
          <p14:sldIdLst>
            <p14:sldId id="256"/>
            <p14:sldId id="257"/>
            <p14:sldId id="258"/>
          </p14:sldIdLst>
        </p14:section>
        <p14:section name="Database" id="{ca7143c5-bb27-1a7d-0815-d9d429eb0f99}">
          <p14:sldIdLst>
            <p14:sldId id="259"/>
            <p14:sldId id="260"/>
          </p14:sldIdLst>
        </p14:section>
        <p14:section name="Demo: student and bookings" id="{b5ab8438-f017-23f6-4291-7bd62a5b0d88}">
          <p14:sldIdLst>
            <p14:sldId id="261"/>
            <p14:sldId id="262"/>
            <p14:sldId id="263"/>
            <p14:sldId id="264"/>
            <p14:sldId id="265"/>
          </p14:sldIdLst>
        </p14:section>
        <p14:section name="Demo: equipment and reports" id="{f89ca7c3-4f15-6167-0b08-f5a799e686f2}">
          <p14:sldIdLst>
            <p14:sldId id="266"/>
            <p14:sldId id="267"/>
            <p14:sldId id="268"/>
          </p14:sldIdLst>
        </p14:section>
        <p14:section name="Demo: faculty and admin" id="{8b686bc0-2bec-3151-5699-9329f5b6cd1a}">
          <p14:sldIdLst>
            <p14:sldId id="269"/>
            <p14:sldId id="270"/>
            <p14:sldId id="271"/>
            <p14:sldId id="272"/>
          </p14:sldIdLst>
        </p14:section>
        <p14:section name="Wrap-up" id="{e9dd4824-544d-ba87-15ec-c44f5b7dc48c}">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Affan opens. Introduce the team and the three parts: Affan - database design and the rules inside MySQL; Hardik - Flask backend, queries, reports and sign-in; Arham - interface, sample data and testing. Tell ma'am that every feature will be shown on the website and immediately proved in MySQL Workbench with a query from sql/review_demo_queries.sql.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problems in plain words. Then the goal: one database where the rules are enforced by MySQL itself, so even a mistake in the app or a direct insert can't break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browser, Flask, MySQL. Stress that Flask has no business rules - it only calls the database. Every rule is in MySQL. Key line: even a direct INSERT in Workbench obeys the same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ER diagram, then switch to Workbench. Expand campushub in the Schemas panel. Run SHOW TABLES and SHOW CREATE TABLE booking. Point at the primary key, the three foreign keys, the two CHECK constraints and idx_booking_slot. Mention 3NF: department and facility type names are stored once in their own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Database status page as admin. Then run the three information_schema queries in Workbench. Name each trigger: T1 trg_booking_before_insert (overlap + status), T2 trg_issue_before_insert (stock check and minus one), T3 trg_issue_after_update (stock plus one on return), T4 trg_maint_after_insert (facility closed), T5 trg_maint_after_update (facility reopened).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Sign in as the student in a private window (Ctrl+Shift+N). Optionally type a wrong password first to show the generic message and that failed_attempts goes up. Then run both queries: the stored_hash column is unreadable scrambled text, not Campus@2026, and last_login_at shows the sign-in just happened. Say: passwords are hashed with scrypt and a salt; after 5 wrong attempts the account locks for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Point at the four cards. Count the rows of the query and compare with the Upcoming bookings card. Type http://127.0.0.1:5000/reports in the address bar to show Access denied. Open Availability: other bookings show as Booked, no names -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Pick any facility that is not under maintenance, tomorrow, 10:00 to 11:00, purpose Project meeting. While choosing, point at the schedule box on the right. After Confirm, show the BK reference and the How MySQL stored it box. Run the query: the new row is on top with Aarav Sharma. Explain: the procedure locks the facility row, inserts, the trigger checks, then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Affan. This is the key moment. Try 10:30-11:30 on the same room and date. The red message names the trigger. Re-run the slide 8 query: no new row, the transaction rolled back. Then show SHOW CREATE TRIGGER and read the overlap condition: existing start &lt; new end AND existing end &gt; new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Affan. Book 11:00-12:00 on the same room: accepted, because 11:00 &gt; 11:00 is false. Then cancel one booking from My bookings. The query shows the whole day of that room. Cancelled bookings are ignored by T1, so the slot is free again. Sign the student out from the name menu at the top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Admin window: karthik.admin@campushub.edu / Campus@2026. Inventory, click Issue on any in-stock item, choose a student, Issue item. Run the query: available_qty is one less. Then Issue history, Return on that row, run again: one more. Returning the same item twice is rejected by sp_return_equipment.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Pick an item shown as Out of stock (for example Document Camera or A3 Plotter). The red message names the trigger. Run the query to show the out-of-stock items, then the slide 11 query again: no new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Hardik. Show the Reports page and one CSV download. Run the view query (most-booked facilities), the department query (COALESCE picks the student's or faculty member's department) and the HAVING query (facilities with repeated faults). Explain WHERE filters rows before grouping, HAVING filters groups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Arham. Sign in as faculty F1001 in the private window. Report a fault on a room, for example 'Projector not turning on'. The report is sent to that room's administrator and the faculty name is added. Run the query: facility_status is UNDER_MAINTENANCE. Optionally try to book that room: rejected by T1.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Arham. Admin window, Maintenance page. Click Start work, then Complete on the faculty's request. Run the slide 14 query again: COMPLETED and AVAILABLE. Explain the NOT EXISTS: if another request is still open for the same room, it stays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Arham. Read out the cards, run the query, compare. The full 8-column version is in review_demo_queries.sql under slide 16. Click Overdue returns to show the drill-down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Arham. Reset Diya Nair (24BCE1102), not the demo student, so the student login keeps working. Run the query: must_change_password is 1. Show the CHECK constraint. Then type ' OR '1'='1 in the admin search box: no results, because every value is passed as a parameter. Mention: every form carries a CSRF token, and students get 403 on admin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Arham. Run verify_rules.sql live, or show its result tab if it was run just before. 20 PASS, 0 FAIL. The 76 automated app tests drive the website end to end with a test client (all pages for all roles, every rejection, CSV exports, SQL-injection strings, the database-down page); they were run on a test copy of the schema, and verify_rules.sql is the check on the real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Affan. Uses facility 1; if facility 1 is under maintenance in your data, change the 1 in all three places to an AVAILABLE facility id. Run Tab A's three statements but not COMMIT. Run Tab B: it waits. Go back to Tab A and COMMIT: Tab B finishes with the overlap error. Clean up with the three lines at the end of review_demo_queries.sql (SET SQL_SAFE_UPDATES = 0; DELETE ... 'lock test%'; SET SQL_SAFE_UPDATES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Affan closes: four things we built, then next steps. Invite questions; whoever owns the topic answers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8"/>
                </a:solidFill>
              </a:rPr>
              <a:t>CampusHub · BCSE302P Database Systems Lab · VIT</a:t>
            </a:r>
            <a:endParaRPr lang="en-US" sz="10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658368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BCSE302P DATABASE SYSTEMS LAB · VIT VELLORE · PROJECT REVIEW</a:t>
            </a:r>
            <a:endParaRPr lang="en-US" sz="1200" dirty="0"/>
          </a:p>
        </p:txBody>
      </p:sp>
      <p:sp>
        <p:nvSpPr>
          <p:cNvPr id="3" name="Text 1"/>
          <p:cNvSpPr txBox="1"/>
          <p:nvPr/>
        </p:nvSpPr>
        <p:spPr>
          <a:xfrm>
            <a:off x="548640" y="1143000"/>
            <a:ext cx="6217920" cy="1005840"/>
          </a:xfrm>
          <a:prstGeom prst="rect">
            <a:avLst/>
          </a:prstGeom>
          <a:noFill/>
          <a:ln/>
        </p:spPr>
        <p:txBody>
          <a:bodyPr wrap="square" lIns="0" tIns="0" rIns="0" bIns="0" rtlCol="0" anchor="ctr"/>
          <a:lstStyle/>
          <a:p>
            <a:pPr indent="0" marL="0">
              <a:buNone/>
            </a:pPr>
            <a:r>
              <a:rPr lang="en-US" sz="5400" b="1" dirty="0">
                <a:solidFill>
                  <a:schemeClr val="bg1"/>
                </a:solidFill>
              </a:rPr>
              <a:t>CampusHub</a:t>
            </a:r>
            <a:endParaRPr lang="en-US" sz="5400" dirty="0"/>
          </a:p>
        </p:txBody>
      </p:sp>
      <p:sp>
        <p:nvSpPr>
          <p:cNvPr id="4" name="Text 2"/>
          <p:cNvSpPr txBox="1"/>
          <p:nvPr/>
        </p:nvSpPr>
        <p:spPr>
          <a:xfrm>
            <a:off x="548640" y="2194560"/>
            <a:ext cx="5852160" cy="822960"/>
          </a:xfrm>
          <a:prstGeom prst="rect">
            <a:avLst/>
          </a:prstGeom>
          <a:noFill/>
          <a:ln/>
        </p:spPr>
        <p:txBody>
          <a:bodyPr wrap="square" lIns="0" tIns="0" rIns="0" bIns="0" rtlCol="0" anchor="ctr"/>
          <a:lstStyle/>
          <a:p>
            <a:pPr indent="0" marL="0">
              <a:buNone/>
            </a:pPr>
            <a:r>
              <a:rPr lang="en-US" sz="2000" dirty="0">
                <a:solidFill>
                  <a:srgbClr val="CBD5E1"/>
                </a:solidFill>
              </a:rPr>
              <a:t>Smart campus facility, booking and inventory management system on MySQL</a:t>
            </a:r>
            <a:endParaRPr lang="en-US" sz="2000" dirty="0"/>
          </a:p>
        </p:txBody>
      </p:sp>
      <p:sp>
        <p:nvSpPr>
          <p:cNvPr id="5" name="Team marker"/>
          <p:cNvSpPr/>
          <p:nvPr/>
        </p:nvSpPr>
        <p:spPr>
          <a:xfrm>
            <a:off x="548640" y="3502152"/>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548640" y="350215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MA</a:t>
            </a:r>
            <a:endParaRPr lang="en-US" sz="1300" dirty="0"/>
          </a:p>
        </p:txBody>
      </p:sp>
      <p:sp>
        <p:nvSpPr>
          <p:cNvPr id="7" name="Text 5"/>
          <p:cNvSpPr txBox="1"/>
          <p:nvPr/>
        </p:nvSpPr>
        <p:spPr>
          <a:xfrm>
            <a:off x="1188720" y="3429000"/>
            <a:ext cx="5394960" cy="621792"/>
          </a:xfrm>
          <a:prstGeom prst="rect">
            <a:avLst/>
          </a:prstGeom>
          <a:noFill/>
          <a:ln/>
        </p:spPr>
        <p:txBody>
          <a:bodyPr wrap="square" lIns="0" tIns="0" rIns="0" bIns="0" rtlCol="0" anchor="ctr"/>
          <a:lstStyle/>
          <a:p>
            <a:pPr indent="0" marL="0">
              <a:buNone/>
            </a:pPr>
            <a:r>
              <a:rPr lang="en-US" sz="1700" b="1" dirty="0">
                <a:solidFill>
                  <a:schemeClr val="bg1"/>
                </a:solidFill>
              </a:rPr>
              <a:t>Mohammed Affan  </a:t>
            </a:r>
            <a:pPr indent="0" marL="0">
              <a:buNone/>
            </a:pPr>
            <a:r>
              <a:rPr lang="en-US" sz="1300" dirty="0">
                <a:solidFill>
                  <a:schemeClr val="accent5"/>
                </a:solidFill>
              </a:rPr>
              <a:t>24BAI0014</a:t>
            </a:r>
            <a:endParaRPr lang="en-US" sz="1700" dirty="0"/>
          </a:p>
          <a:p>
            <a:pPr indent="0" marL="0">
              <a:buNone/>
            </a:pPr>
            <a:r>
              <a:rPr lang="en-US" sz="1300" dirty="0">
                <a:solidFill>
                  <a:srgbClr val="A9B6CF"/>
                </a:solidFill>
              </a:rPr>
              <a:t>Database design, triggers, procedures</a:t>
            </a:r>
            <a:endParaRPr lang="en-US" sz="1700" dirty="0"/>
          </a:p>
        </p:txBody>
      </p:sp>
      <p:sp>
        <p:nvSpPr>
          <p:cNvPr id="8" name="Team marker"/>
          <p:cNvSpPr/>
          <p:nvPr/>
        </p:nvSpPr>
        <p:spPr>
          <a:xfrm>
            <a:off x="548640" y="4370832"/>
            <a:ext cx="457200" cy="457200"/>
          </a:xfrm>
          <a:prstGeom prst="ellipse">
            <a:avLst/>
          </a:prstGeom>
          <a:solidFill>
            <a:schemeClr val="accent3"/>
          </a:solidFill>
          <a:ln w="12700">
            <a:solidFill>
              <a:schemeClr val="accent3"/>
            </a:solidFill>
            <a:prstDash val="solid"/>
          </a:ln>
        </p:spPr>
      </p:sp>
      <p:sp>
        <p:nvSpPr>
          <p:cNvPr id="9" name="Text 7"/>
          <p:cNvSpPr txBox="1"/>
          <p:nvPr/>
        </p:nvSpPr>
        <p:spPr>
          <a:xfrm>
            <a:off x="548640" y="437083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HG</a:t>
            </a:r>
            <a:endParaRPr lang="en-US" sz="1300" dirty="0"/>
          </a:p>
        </p:txBody>
      </p:sp>
      <p:sp>
        <p:nvSpPr>
          <p:cNvPr id="10" name="Text 8"/>
          <p:cNvSpPr txBox="1"/>
          <p:nvPr/>
        </p:nvSpPr>
        <p:spPr>
          <a:xfrm>
            <a:off x="1188720" y="4297680"/>
            <a:ext cx="5394960" cy="621792"/>
          </a:xfrm>
          <a:prstGeom prst="rect">
            <a:avLst/>
          </a:prstGeom>
          <a:noFill/>
          <a:ln/>
        </p:spPr>
        <p:txBody>
          <a:bodyPr wrap="square" lIns="0" tIns="0" rIns="0" bIns="0" rtlCol="0" anchor="ctr"/>
          <a:lstStyle/>
          <a:p>
            <a:pPr indent="0" marL="0">
              <a:buNone/>
            </a:pPr>
            <a:r>
              <a:rPr lang="en-US" sz="1700" b="1" dirty="0">
                <a:solidFill>
                  <a:schemeClr val="bg1"/>
                </a:solidFill>
              </a:rPr>
              <a:t>Hardik Gupta  </a:t>
            </a:r>
            <a:pPr indent="0" marL="0">
              <a:buNone/>
            </a:pPr>
            <a:r>
              <a:rPr lang="en-US" sz="1300" dirty="0">
                <a:solidFill>
                  <a:schemeClr val="accent5"/>
                </a:solidFill>
              </a:rPr>
              <a:t>24BCI0017</a:t>
            </a:r>
            <a:endParaRPr lang="en-US" sz="1700" dirty="0"/>
          </a:p>
          <a:p>
            <a:pPr indent="0" marL="0">
              <a:buNone/>
            </a:pPr>
            <a:r>
              <a:rPr lang="en-US" sz="1300" dirty="0">
                <a:solidFill>
                  <a:srgbClr val="A9B6CF"/>
                </a:solidFill>
              </a:rPr>
              <a:t>Flask backend, queries, reports, sign-in</a:t>
            </a:r>
            <a:endParaRPr lang="en-US" sz="1700" dirty="0"/>
          </a:p>
        </p:txBody>
      </p:sp>
      <p:sp>
        <p:nvSpPr>
          <p:cNvPr id="11" name="Team marker"/>
          <p:cNvSpPr/>
          <p:nvPr/>
        </p:nvSpPr>
        <p:spPr>
          <a:xfrm>
            <a:off x="548640" y="5239512"/>
            <a:ext cx="457200" cy="457200"/>
          </a:xfrm>
          <a:prstGeom prst="ellipse">
            <a:avLst/>
          </a:prstGeom>
          <a:solidFill>
            <a:schemeClr val="accent4"/>
          </a:solidFill>
          <a:ln w="12700">
            <a:solidFill>
              <a:schemeClr val="accent4"/>
            </a:solidFill>
            <a:prstDash val="solid"/>
          </a:ln>
        </p:spPr>
      </p:sp>
      <p:sp>
        <p:nvSpPr>
          <p:cNvPr id="12" name="Text 10"/>
          <p:cNvSpPr txBox="1"/>
          <p:nvPr/>
        </p:nvSpPr>
        <p:spPr>
          <a:xfrm>
            <a:off x="548640" y="5239512"/>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AS</a:t>
            </a:r>
            <a:endParaRPr lang="en-US" sz="1300" dirty="0"/>
          </a:p>
        </p:txBody>
      </p:sp>
      <p:sp>
        <p:nvSpPr>
          <p:cNvPr id="13" name="Text 11"/>
          <p:cNvSpPr txBox="1"/>
          <p:nvPr/>
        </p:nvSpPr>
        <p:spPr>
          <a:xfrm>
            <a:off x="1188720" y="5166360"/>
            <a:ext cx="5394960" cy="621792"/>
          </a:xfrm>
          <a:prstGeom prst="rect">
            <a:avLst/>
          </a:prstGeom>
          <a:noFill/>
          <a:ln/>
        </p:spPr>
        <p:txBody>
          <a:bodyPr wrap="square" lIns="0" tIns="0" rIns="0" bIns="0" rtlCol="0" anchor="ctr"/>
          <a:lstStyle/>
          <a:p>
            <a:pPr indent="0" marL="0">
              <a:buNone/>
            </a:pPr>
            <a:r>
              <a:rPr lang="en-US" sz="1700" b="1" dirty="0">
                <a:solidFill>
                  <a:schemeClr val="bg1"/>
                </a:solidFill>
              </a:rPr>
              <a:t>Arham Sadiq K  </a:t>
            </a:r>
            <a:pPr indent="0" marL="0">
              <a:buNone/>
            </a:pPr>
            <a:r>
              <a:rPr lang="en-US" sz="1300" dirty="0">
                <a:solidFill>
                  <a:schemeClr val="accent5"/>
                </a:solidFill>
              </a:rPr>
              <a:t>24BAI0335</a:t>
            </a:r>
            <a:endParaRPr lang="en-US" sz="1700" dirty="0"/>
          </a:p>
          <a:p>
            <a:pPr indent="0" marL="0">
              <a:buNone/>
            </a:pPr>
            <a:r>
              <a:rPr lang="en-US" sz="1300" dirty="0">
                <a:solidFill>
                  <a:srgbClr val="A9B6CF"/>
                </a:solidFill>
              </a:rPr>
              <a:t>Interface, sample data, testing</a:t>
            </a:r>
            <a:endParaRPr lang="en-US" sz="1700" dirty="0"/>
          </a:p>
        </p:txBody>
      </p:sp>
      <p:sp>
        <p:nvSpPr>
          <p:cNvPr id="14" name="Hero frame"/>
          <p:cNvSpPr/>
          <p:nvPr/>
        </p:nvSpPr>
        <p:spPr>
          <a:xfrm>
            <a:off x="6903720" y="1143000"/>
            <a:ext cx="4800600" cy="2999232"/>
          </a:xfrm>
          <a:prstGeom prst="rect">
            <a:avLst/>
          </a:prstGeom>
          <a:solidFill>
            <a:schemeClr val="bg1"/>
          </a:solidFill>
          <a:ln w="12700">
            <a:solidFill>
              <a:srgbClr val="1E3361"/>
            </a:solidFill>
            <a:prstDash val="solid"/>
          </a:ln>
          <a:effectLst>
            <a:outerShdw sx="100000" sy="100000" kx="0" ky="0" algn="bl" rotWithShape="0" blurRad="177800" dist="50800" dir="5400000">
              <a:srgbClr val="000000">
                <a:alpha val="40000"/>
              </a:srgbClr>
            </a:outerShdw>
          </a:effectLst>
        </p:spPr>
      </p:sp>
      <p:pic>
        <p:nvPicPr>
          <p:cNvPr id="15" name="Image 0" descr="CampusHub admin dashboard">    </p:cNvPr>
          <p:cNvPicPr>
            <a:picLocks noChangeAspect="1"/>
          </p:cNvPicPr>
          <p:nvPr/>
        </p:nvPicPr>
        <p:blipFill>
          <a:blip r:embed="rId1"/>
          <a:stretch>
            <a:fillRect/>
          </a:stretch>
        </p:blipFill>
        <p:spPr>
          <a:xfrm>
            <a:off x="6922008" y="1161288"/>
            <a:ext cx="4764024" cy="2977286"/>
          </a:xfrm>
          <a:prstGeom prst="rect">
            <a:avLst/>
          </a:prstGeom>
        </p:spPr>
      </p:pic>
      <p:sp>
        <p:nvSpPr>
          <p:cNvPr id="16" name="Hero frame 2"/>
          <p:cNvSpPr/>
          <p:nvPr/>
        </p:nvSpPr>
        <p:spPr>
          <a:xfrm>
            <a:off x="8412480" y="3657600"/>
            <a:ext cx="3291840" cy="2057400"/>
          </a:xfrm>
          <a:prstGeom prst="rect">
            <a:avLst/>
          </a:prstGeom>
          <a:solidFill>
            <a:schemeClr val="bg1"/>
          </a:solidFill>
          <a:ln w="12700">
            <a:solidFill>
              <a:srgbClr val="1E3361"/>
            </a:solidFill>
            <a:prstDash val="solid"/>
          </a:ln>
          <a:effectLst>
            <a:outerShdw sx="100000" sy="100000" kx="0" ky="0" algn="bl" rotWithShape="0" blurRad="177800" dist="50800" dir="5400000">
              <a:srgbClr val="000000">
                <a:alpha val="40000"/>
              </a:srgbClr>
            </a:outerShdw>
          </a:effectLst>
        </p:spPr>
      </p:sp>
      <p:pic>
        <p:nvPicPr>
          <p:cNvPr id="17" name="Image 1" descr="CampusHub sign-in page">    </p:cNvPr>
          <p:cNvPicPr>
            <a:picLocks noChangeAspect="1"/>
          </p:cNvPicPr>
          <p:nvPr/>
        </p:nvPicPr>
        <p:blipFill>
          <a:blip r:embed="rId2"/>
          <a:stretch>
            <a:fillRect/>
          </a:stretch>
        </p:blipFill>
        <p:spPr>
          <a:xfrm>
            <a:off x="8430768" y="3675888"/>
            <a:ext cx="3255264" cy="2034540"/>
          </a:xfrm>
          <a:prstGeom prst="rect">
            <a:avLst/>
          </a:prstGeom>
        </p:spPr>
      </p:pic>
      <p:sp>
        <p:nvSpPr>
          <p:cNvPr id="18" name="Text 14"/>
          <p:cNvSpPr txBox="1"/>
          <p:nvPr/>
        </p:nvSpPr>
        <p:spPr>
          <a:xfrm>
            <a:off x="6903720" y="5943600"/>
            <a:ext cx="4800600" cy="365760"/>
          </a:xfrm>
          <a:prstGeom prst="rect">
            <a:avLst/>
          </a:prstGeom>
          <a:noFill/>
          <a:ln/>
        </p:spPr>
        <p:txBody>
          <a:bodyPr wrap="square" lIns="0" tIns="0" rIns="0" bIns="0" rtlCol="0" anchor="ctr"/>
          <a:lstStyle/>
          <a:p>
            <a:pPr algn="r" indent="0" marL="0">
              <a:buNone/>
            </a:pPr>
            <a:r>
              <a:rPr lang="en-US" sz="1300" i="1" dirty="0">
                <a:solidFill>
                  <a:schemeClr val="accent5"/>
                </a:solidFill>
              </a:rPr>
              <a:t>Live demo: website + MySQL Workbench side by side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The problem we are solving</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Affan</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Campus rooms, labs, halls and courts are booked on paper, e-mail or WhatsApp</a:t>
            </a:r>
            <a:endParaRPr lang="en-US" sz="1500" dirty="0"/>
          </a:p>
        </p:txBody>
      </p:sp>
      <p:sp>
        <p:nvSpPr>
          <p:cNvPr id="6" name="Problem card"/>
          <p:cNvSpPr/>
          <p:nvPr/>
        </p:nvSpPr>
        <p:spPr>
          <a:xfrm>
            <a:off x="457200" y="1600200"/>
            <a:ext cx="2679192" cy="3246120"/>
          </a:xfrm>
          <a:prstGeom prst="roundRect">
            <a:avLst>
              <a:gd name="adj" fmla="val 4096"/>
            </a:avLst>
          </a:prstGeom>
          <a:solidFill>
            <a:schemeClr val="bg2"/>
          </a:solidFill>
          <a:ln w="12700">
            <a:solidFill>
              <a:schemeClr val="bg2"/>
            </a:solidFill>
            <a:prstDash val="solid"/>
          </a:ln>
        </p:spPr>
      </p:sp>
      <p:sp>
        <p:nvSpPr>
          <p:cNvPr id="7" name="Icon circle"/>
          <p:cNvSpPr/>
          <p:nvPr/>
        </p:nvSpPr>
        <p:spPr>
          <a:xfrm>
            <a:off x="731520" y="1892808"/>
            <a:ext cx="713232" cy="713232"/>
          </a:xfrm>
          <a:prstGeom prst="ellipse">
            <a:avLst/>
          </a:prstGeom>
          <a:solidFill>
            <a:srgbClr val="D14A3F"/>
          </a:solidFill>
          <a:ln w="12700">
            <a:solidFill>
              <a:srgbClr val="D14A3F"/>
            </a:solidFill>
            <a:prstDash val="solid"/>
          </a:ln>
        </p:spPr>
      </p:sp>
      <p:pic>
        <p:nvPicPr>
          <p:cNvPr id="8" name="Image 0" descr="Double bookings">    </p:cNvPr>
          <p:cNvPicPr>
            <a:picLocks noChangeAspect="1"/>
          </p:cNvPicPr>
          <p:nvPr/>
        </p:nvPicPr>
        <p:blipFill>
          <a:blip r:embed="rId1"/>
          <a:stretch>
            <a:fillRect/>
          </a:stretch>
        </p:blipFill>
        <p:spPr>
          <a:xfrm>
            <a:off x="905256" y="2066544"/>
            <a:ext cx="365760" cy="365760"/>
          </a:xfrm>
          <a:prstGeom prst="rect">
            <a:avLst/>
          </a:prstGeom>
        </p:spPr>
      </p:pic>
      <p:sp>
        <p:nvSpPr>
          <p:cNvPr id="9" name="Text 6"/>
          <p:cNvSpPr txBox="1"/>
          <p:nvPr/>
        </p:nvSpPr>
        <p:spPr>
          <a:xfrm>
            <a:off x="731520" y="2788920"/>
            <a:ext cx="2194560" cy="365760"/>
          </a:xfrm>
          <a:prstGeom prst="rect">
            <a:avLst/>
          </a:prstGeom>
          <a:noFill/>
          <a:ln/>
        </p:spPr>
        <p:txBody>
          <a:bodyPr wrap="square" lIns="0" tIns="0" rIns="0" bIns="0" rtlCol="0" anchor="t"/>
          <a:lstStyle/>
          <a:p>
            <a:pPr indent="0" marL="0">
              <a:buNone/>
            </a:pPr>
            <a:r>
              <a:rPr lang="en-US" sz="1800" b="1" dirty="0">
                <a:solidFill>
                  <a:schemeClr val="tx1"/>
                </a:solidFill>
              </a:rPr>
              <a:t>Double bookings</a:t>
            </a:r>
            <a:endParaRPr lang="en-US" sz="1800" dirty="0"/>
          </a:p>
        </p:txBody>
      </p:sp>
      <p:sp>
        <p:nvSpPr>
          <p:cNvPr id="10" name="Text 7"/>
          <p:cNvSpPr txBox="1"/>
          <p:nvPr/>
        </p:nvSpPr>
        <p:spPr>
          <a:xfrm>
            <a:off x="731520" y="3227832"/>
            <a:ext cx="2194560" cy="1463040"/>
          </a:xfrm>
          <a:prstGeom prst="rect">
            <a:avLst/>
          </a:prstGeom>
          <a:noFill/>
          <a:ln/>
        </p:spPr>
        <p:txBody>
          <a:bodyPr wrap="square" lIns="0" tIns="0" rIns="0" bIns="0" rtlCol="0" anchor="t"/>
          <a:lstStyle/>
          <a:p>
            <a:pPr indent="0" marL="0">
              <a:buNone/>
            </a:pPr>
            <a:r>
              <a:rPr lang="en-US" sz="1400" dirty="0">
                <a:solidFill>
                  <a:srgbClr val="5B6478"/>
                </a:solidFill>
              </a:rPr>
              <a:t>Two groups arrive for the same room at the same time: nothing checks for overlapping slots.</a:t>
            </a:r>
            <a:endParaRPr lang="en-US" sz="1400" dirty="0"/>
          </a:p>
        </p:txBody>
      </p:sp>
      <p:sp>
        <p:nvSpPr>
          <p:cNvPr id="11" name="Problem card"/>
          <p:cNvSpPr/>
          <p:nvPr/>
        </p:nvSpPr>
        <p:spPr>
          <a:xfrm>
            <a:off x="3319272" y="1600200"/>
            <a:ext cx="2679192" cy="3246120"/>
          </a:xfrm>
          <a:prstGeom prst="roundRect">
            <a:avLst>
              <a:gd name="adj" fmla="val 4096"/>
            </a:avLst>
          </a:prstGeom>
          <a:solidFill>
            <a:schemeClr val="bg2"/>
          </a:solidFill>
          <a:ln w="12700">
            <a:solidFill>
              <a:schemeClr val="bg2"/>
            </a:solidFill>
            <a:prstDash val="solid"/>
          </a:ln>
        </p:spPr>
      </p:sp>
      <p:sp>
        <p:nvSpPr>
          <p:cNvPr id="12" name="Icon circle"/>
          <p:cNvSpPr/>
          <p:nvPr/>
        </p:nvSpPr>
        <p:spPr>
          <a:xfrm>
            <a:off x="3593592" y="1892808"/>
            <a:ext cx="713232" cy="713232"/>
          </a:xfrm>
          <a:prstGeom prst="ellipse">
            <a:avLst/>
          </a:prstGeom>
          <a:solidFill>
            <a:srgbClr val="4F46E5"/>
          </a:solidFill>
          <a:ln w="12700">
            <a:solidFill>
              <a:srgbClr val="4F46E5"/>
            </a:solidFill>
            <a:prstDash val="solid"/>
          </a:ln>
        </p:spPr>
      </p:sp>
      <p:pic>
        <p:nvPicPr>
          <p:cNvPr id="13" name="Image 1" descr="No live availability">    </p:cNvPr>
          <p:cNvPicPr>
            <a:picLocks noChangeAspect="1"/>
          </p:cNvPicPr>
          <p:nvPr/>
        </p:nvPicPr>
        <p:blipFill>
          <a:blip r:embed="rId2"/>
          <a:stretch>
            <a:fillRect/>
          </a:stretch>
        </p:blipFill>
        <p:spPr>
          <a:xfrm>
            <a:off x="3767328" y="2066544"/>
            <a:ext cx="365760" cy="365760"/>
          </a:xfrm>
          <a:prstGeom prst="rect">
            <a:avLst/>
          </a:prstGeom>
        </p:spPr>
      </p:pic>
      <p:sp>
        <p:nvSpPr>
          <p:cNvPr id="14" name="Text 10"/>
          <p:cNvSpPr txBox="1"/>
          <p:nvPr/>
        </p:nvSpPr>
        <p:spPr>
          <a:xfrm>
            <a:off x="3593592" y="2788920"/>
            <a:ext cx="2194560" cy="365760"/>
          </a:xfrm>
          <a:prstGeom prst="rect">
            <a:avLst/>
          </a:prstGeom>
          <a:noFill/>
          <a:ln/>
        </p:spPr>
        <p:txBody>
          <a:bodyPr wrap="square" lIns="0" tIns="0" rIns="0" bIns="0" rtlCol="0" anchor="t"/>
          <a:lstStyle/>
          <a:p>
            <a:pPr indent="0" marL="0">
              <a:buNone/>
            </a:pPr>
            <a:r>
              <a:rPr lang="en-US" sz="1800" b="1" dirty="0">
                <a:solidFill>
                  <a:schemeClr val="tx1"/>
                </a:solidFill>
              </a:rPr>
              <a:t>No live availability</a:t>
            </a:r>
            <a:endParaRPr lang="en-US" sz="1800" dirty="0"/>
          </a:p>
        </p:txBody>
      </p:sp>
      <p:sp>
        <p:nvSpPr>
          <p:cNvPr id="15" name="Text 11"/>
          <p:cNvSpPr txBox="1"/>
          <p:nvPr/>
        </p:nvSpPr>
        <p:spPr>
          <a:xfrm>
            <a:off x="3593592" y="3227832"/>
            <a:ext cx="2194560" cy="1463040"/>
          </a:xfrm>
          <a:prstGeom prst="rect">
            <a:avLst/>
          </a:prstGeom>
          <a:noFill/>
          <a:ln/>
        </p:spPr>
        <p:txBody>
          <a:bodyPr wrap="square" lIns="0" tIns="0" rIns="0" bIns="0" rtlCol="0" anchor="t"/>
          <a:lstStyle/>
          <a:p>
            <a:pPr indent="0" marL="0">
              <a:buNone/>
            </a:pPr>
            <a:r>
              <a:rPr lang="en-US" sz="1400" dirty="0">
                <a:solidFill>
                  <a:srgbClr val="5B6478"/>
                </a:solidFill>
              </a:rPr>
              <a:t>Nobody can see which rooms are free right now or later today without asking around.</a:t>
            </a:r>
            <a:endParaRPr lang="en-US" sz="1400" dirty="0"/>
          </a:p>
        </p:txBody>
      </p:sp>
      <p:sp>
        <p:nvSpPr>
          <p:cNvPr id="16" name="Problem card"/>
          <p:cNvSpPr/>
          <p:nvPr/>
        </p:nvSpPr>
        <p:spPr>
          <a:xfrm>
            <a:off x="6181344" y="1600200"/>
            <a:ext cx="2679192" cy="3246120"/>
          </a:xfrm>
          <a:prstGeom prst="roundRect">
            <a:avLst>
              <a:gd name="adj" fmla="val 4096"/>
            </a:avLst>
          </a:prstGeom>
          <a:solidFill>
            <a:schemeClr val="bg2"/>
          </a:solidFill>
          <a:ln w="12700">
            <a:solidFill>
              <a:schemeClr val="bg2"/>
            </a:solidFill>
            <a:prstDash val="solid"/>
          </a:ln>
        </p:spPr>
      </p:sp>
      <p:sp>
        <p:nvSpPr>
          <p:cNvPr id="17" name="Icon circle"/>
          <p:cNvSpPr/>
          <p:nvPr/>
        </p:nvSpPr>
        <p:spPr>
          <a:xfrm>
            <a:off x="6455664" y="1892808"/>
            <a:ext cx="713232" cy="713232"/>
          </a:xfrm>
          <a:prstGeom prst="ellipse">
            <a:avLst/>
          </a:prstGeom>
          <a:solidFill>
            <a:srgbClr val="C26A06"/>
          </a:solidFill>
          <a:ln w="12700">
            <a:solidFill>
              <a:srgbClr val="C26A06"/>
            </a:solidFill>
            <a:prstDash val="solid"/>
          </a:ln>
        </p:spPr>
      </p:sp>
      <p:pic>
        <p:nvPicPr>
          <p:cNvPr id="18" name="Image 2" descr="Lost equipment">    </p:cNvPr>
          <p:cNvPicPr>
            <a:picLocks noChangeAspect="1"/>
          </p:cNvPicPr>
          <p:nvPr/>
        </p:nvPicPr>
        <p:blipFill>
          <a:blip r:embed="rId3"/>
          <a:stretch>
            <a:fillRect/>
          </a:stretch>
        </p:blipFill>
        <p:spPr>
          <a:xfrm>
            <a:off x="6629400" y="2066544"/>
            <a:ext cx="365760" cy="365760"/>
          </a:xfrm>
          <a:prstGeom prst="rect">
            <a:avLst/>
          </a:prstGeom>
        </p:spPr>
      </p:pic>
      <p:sp>
        <p:nvSpPr>
          <p:cNvPr id="19" name="Text 14"/>
          <p:cNvSpPr txBox="1"/>
          <p:nvPr/>
        </p:nvSpPr>
        <p:spPr>
          <a:xfrm>
            <a:off x="6455664" y="2788920"/>
            <a:ext cx="2194560" cy="365760"/>
          </a:xfrm>
          <a:prstGeom prst="rect">
            <a:avLst/>
          </a:prstGeom>
          <a:noFill/>
          <a:ln/>
        </p:spPr>
        <p:txBody>
          <a:bodyPr wrap="square" lIns="0" tIns="0" rIns="0" bIns="0" rtlCol="0" anchor="t"/>
          <a:lstStyle/>
          <a:p>
            <a:pPr indent="0" marL="0">
              <a:buNone/>
            </a:pPr>
            <a:r>
              <a:rPr lang="en-US" sz="1800" b="1" dirty="0">
                <a:solidFill>
                  <a:schemeClr val="tx1"/>
                </a:solidFill>
              </a:rPr>
              <a:t>Lost equipment</a:t>
            </a:r>
            <a:endParaRPr lang="en-US" sz="1800" dirty="0"/>
          </a:p>
        </p:txBody>
      </p:sp>
      <p:sp>
        <p:nvSpPr>
          <p:cNvPr id="20" name="Text 15"/>
          <p:cNvSpPr txBox="1"/>
          <p:nvPr/>
        </p:nvSpPr>
        <p:spPr>
          <a:xfrm>
            <a:off x="6455664" y="3227832"/>
            <a:ext cx="2194560" cy="1463040"/>
          </a:xfrm>
          <a:prstGeom prst="rect">
            <a:avLst/>
          </a:prstGeom>
          <a:noFill/>
          <a:ln/>
        </p:spPr>
        <p:txBody>
          <a:bodyPr wrap="square" lIns="0" tIns="0" rIns="0" bIns="0" rtlCol="0" anchor="t"/>
          <a:lstStyle/>
          <a:p>
            <a:pPr indent="0" marL="0">
              <a:buNone/>
            </a:pPr>
            <a:r>
              <a:rPr lang="en-US" sz="1400" dirty="0">
                <a:solidFill>
                  <a:srgbClr val="5B6478"/>
                </a:solidFill>
              </a:rPr>
              <a:t>Projectors, kits and laptops are lent out with no record of who has them or when they are due.</a:t>
            </a:r>
            <a:endParaRPr lang="en-US" sz="1400" dirty="0"/>
          </a:p>
        </p:txBody>
      </p:sp>
      <p:sp>
        <p:nvSpPr>
          <p:cNvPr id="21" name="Problem card"/>
          <p:cNvSpPr/>
          <p:nvPr/>
        </p:nvSpPr>
        <p:spPr>
          <a:xfrm>
            <a:off x="9043416" y="1600200"/>
            <a:ext cx="2679192" cy="3246120"/>
          </a:xfrm>
          <a:prstGeom prst="roundRect">
            <a:avLst>
              <a:gd name="adj" fmla="val 4096"/>
            </a:avLst>
          </a:prstGeom>
          <a:solidFill>
            <a:schemeClr val="bg2"/>
          </a:solidFill>
          <a:ln w="12700">
            <a:solidFill>
              <a:schemeClr val="bg2"/>
            </a:solidFill>
            <a:prstDash val="solid"/>
          </a:ln>
        </p:spPr>
      </p:sp>
      <p:sp>
        <p:nvSpPr>
          <p:cNvPr id="22" name="Icon circle"/>
          <p:cNvSpPr/>
          <p:nvPr/>
        </p:nvSpPr>
        <p:spPr>
          <a:xfrm>
            <a:off x="9317736" y="1892808"/>
            <a:ext cx="713232" cy="713232"/>
          </a:xfrm>
          <a:prstGeom prst="ellipse">
            <a:avLst/>
          </a:prstGeom>
          <a:solidFill>
            <a:srgbClr val="0F766E"/>
          </a:solidFill>
          <a:ln w="12700">
            <a:solidFill>
              <a:srgbClr val="0F766E"/>
            </a:solidFill>
            <a:prstDash val="solid"/>
          </a:ln>
        </p:spPr>
      </p:sp>
      <p:pic>
        <p:nvPicPr>
          <p:cNvPr id="23" name="Image 3" descr="Broken rooms booked">    </p:cNvPr>
          <p:cNvPicPr>
            <a:picLocks noChangeAspect="1"/>
          </p:cNvPicPr>
          <p:nvPr/>
        </p:nvPicPr>
        <p:blipFill>
          <a:blip r:embed="rId4"/>
          <a:stretch>
            <a:fillRect/>
          </a:stretch>
        </p:blipFill>
        <p:spPr>
          <a:xfrm>
            <a:off x="9491472" y="2066544"/>
            <a:ext cx="365760" cy="365760"/>
          </a:xfrm>
          <a:prstGeom prst="rect">
            <a:avLst/>
          </a:prstGeom>
        </p:spPr>
      </p:pic>
      <p:sp>
        <p:nvSpPr>
          <p:cNvPr id="24" name="Text 18"/>
          <p:cNvSpPr txBox="1"/>
          <p:nvPr/>
        </p:nvSpPr>
        <p:spPr>
          <a:xfrm>
            <a:off x="9317736" y="2788920"/>
            <a:ext cx="2194560" cy="365760"/>
          </a:xfrm>
          <a:prstGeom prst="rect">
            <a:avLst/>
          </a:prstGeom>
          <a:noFill/>
          <a:ln/>
        </p:spPr>
        <p:txBody>
          <a:bodyPr wrap="square" lIns="0" tIns="0" rIns="0" bIns="0" rtlCol="0" anchor="t"/>
          <a:lstStyle/>
          <a:p>
            <a:pPr indent="0" marL="0">
              <a:buNone/>
            </a:pPr>
            <a:r>
              <a:rPr lang="en-US" sz="1800" b="1" dirty="0">
                <a:solidFill>
                  <a:schemeClr val="tx1"/>
                </a:solidFill>
              </a:rPr>
              <a:t>Broken rooms booked</a:t>
            </a:r>
            <a:endParaRPr lang="en-US" sz="1800" dirty="0"/>
          </a:p>
        </p:txBody>
      </p:sp>
      <p:sp>
        <p:nvSpPr>
          <p:cNvPr id="25" name="Text 19"/>
          <p:cNvSpPr txBox="1"/>
          <p:nvPr/>
        </p:nvSpPr>
        <p:spPr>
          <a:xfrm>
            <a:off x="9317736" y="3227832"/>
            <a:ext cx="2194560" cy="1463040"/>
          </a:xfrm>
          <a:prstGeom prst="rect">
            <a:avLst/>
          </a:prstGeom>
          <a:noFill/>
          <a:ln/>
        </p:spPr>
        <p:txBody>
          <a:bodyPr wrap="square" lIns="0" tIns="0" rIns="0" bIns="0" rtlCol="0" anchor="t"/>
          <a:lstStyle/>
          <a:p>
            <a:pPr indent="0" marL="0">
              <a:buNone/>
            </a:pPr>
            <a:r>
              <a:rPr lang="en-US" sz="1400" dirty="0">
                <a:solidFill>
                  <a:srgbClr val="5B6478"/>
                </a:solidFill>
              </a:rPr>
              <a:t>Maintenance is not linked to booking, and admins have no usage data for planning.</a:t>
            </a:r>
            <a:endParaRPr lang="en-US" sz="1400" dirty="0"/>
          </a:p>
        </p:txBody>
      </p:sp>
      <p:sp>
        <p:nvSpPr>
          <p:cNvPr id="26" name="Goal"/>
          <p:cNvSpPr/>
          <p:nvPr/>
        </p:nvSpPr>
        <p:spPr>
          <a:xfrm>
            <a:off x="457200" y="5120640"/>
            <a:ext cx="11274552" cy="1051560"/>
          </a:xfrm>
          <a:prstGeom prst="roundRect">
            <a:avLst>
              <a:gd name="adj" fmla="val 10435"/>
            </a:avLst>
          </a:prstGeom>
          <a:solidFill>
            <a:schemeClr val="tx2"/>
          </a:solidFill>
          <a:ln w="12700">
            <a:solidFill>
              <a:schemeClr val="tx2"/>
            </a:solidFill>
            <a:prstDash val="solid"/>
          </a:ln>
        </p:spPr>
      </p:sp>
      <p:sp>
        <p:nvSpPr>
          <p:cNvPr id="27" name="Text 21"/>
          <p:cNvSpPr txBox="1"/>
          <p:nvPr/>
        </p:nvSpPr>
        <p:spPr>
          <a:xfrm>
            <a:off x="777240" y="5120640"/>
            <a:ext cx="10698480" cy="1051560"/>
          </a:xfrm>
          <a:prstGeom prst="rect">
            <a:avLst/>
          </a:prstGeom>
          <a:noFill/>
          <a:ln/>
        </p:spPr>
        <p:txBody>
          <a:bodyPr wrap="square" lIns="0" tIns="0" rIns="0" bIns="0" rtlCol="0" anchor="ctr"/>
          <a:lstStyle/>
          <a:p>
            <a:pPr indent="0" marL="0">
              <a:buNone/>
            </a:pPr>
            <a:r>
              <a:rPr lang="en-US" sz="1700" b="1" dirty="0">
                <a:solidFill>
                  <a:schemeClr val="accent5"/>
                </a:solidFill>
              </a:rPr>
              <a:t>Goal  </a:t>
            </a:r>
            <a:pPr indent="0" marL="0">
              <a:buNone/>
            </a:pPr>
            <a:r>
              <a:rPr lang="en-US" sz="1700" dirty="0">
                <a:solidFill>
                  <a:schemeClr val="bg1"/>
                </a:solidFill>
              </a:rPr>
              <a:t>One MySQL database that holds facilities, bookings, equipment and maintenance together, and refuses bad data itself: no double booking, no issuing missing stock, no booking a broken room.</a:t>
            </a:r>
            <a:endParaRPr lang="en-US" sz="17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Our approach: the rules live inside MySQL</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Affan</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A thin Flask website on top of a MySQL database that enforces every business rule</a:t>
            </a:r>
            <a:endParaRPr lang="en-US" sz="1500" dirty="0"/>
          </a:p>
        </p:txBody>
      </p:sp>
      <p:sp>
        <p:nvSpPr>
          <p:cNvPr id="6" name="Tier Browser"/>
          <p:cNvSpPr/>
          <p:nvPr/>
        </p:nvSpPr>
        <p:spPr>
          <a:xfrm>
            <a:off x="457200" y="1600200"/>
            <a:ext cx="3337560" cy="2103120"/>
          </a:xfrm>
          <a:prstGeom prst="roundRect">
            <a:avLst>
              <a:gd name="adj" fmla="val 5217"/>
            </a:avLst>
          </a:prstGeom>
          <a:solidFill>
            <a:schemeClr val="bg2"/>
          </a:solidFill>
          <a:ln w="6350">
            <a:solidFill>
              <a:schemeClr val="bg2"/>
            </a:solidFill>
            <a:prstDash val="solid"/>
          </a:ln>
        </p:spPr>
      </p:sp>
      <p:pic>
        <p:nvPicPr>
          <p:cNvPr id="7" name="Image 0" descr="Browser">    </p:cNvPr>
          <p:cNvPicPr>
            <a:picLocks noChangeAspect="1"/>
          </p:cNvPicPr>
          <p:nvPr/>
        </p:nvPicPr>
        <p:blipFill>
          <a:blip r:embed="rId1"/>
          <a:stretch>
            <a:fillRect/>
          </a:stretch>
        </p:blipFill>
        <p:spPr>
          <a:xfrm>
            <a:off x="731520" y="1874520"/>
            <a:ext cx="457200" cy="457200"/>
          </a:xfrm>
          <a:prstGeom prst="rect">
            <a:avLst/>
          </a:prstGeom>
        </p:spPr>
      </p:pic>
      <p:sp>
        <p:nvSpPr>
          <p:cNvPr id="8" name="Text 5"/>
          <p:cNvSpPr txBox="1"/>
          <p:nvPr/>
        </p:nvSpPr>
        <p:spPr>
          <a:xfrm>
            <a:off x="1325880" y="1874520"/>
            <a:ext cx="2286000" cy="457200"/>
          </a:xfrm>
          <a:prstGeom prst="rect">
            <a:avLst/>
          </a:prstGeom>
          <a:noFill/>
          <a:ln/>
        </p:spPr>
        <p:txBody>
          <a:bodyPr wrap="square" lIns="0" tIns="0" rIns="0" bIns="0" rtlCol="0" anchor="ctr"/>
          <a:lstStyle/>
          <a:p>
            <a:pPr indent="0" marL="0">
              <a:buNone/>
            </a:pPr>
            <a:r>
              <a:rPr lang="en-US" sz="2000" b="1" dirty="0">
                <a:solidFill>
                  <a:schemeClr val="tx1"/>
                </a:solidFill>
              </a:rPr>
              <a:t>Browser</a:t>
            </a:r>
            <a:endParaRPr lang="en-US" sz="2000" dirty="0"/>
          </a:p>
        </p:txBody>
      </p:sp>
      <p:sp>
        <p:nvSpPr>
          <p:cNvPr id="9" name="Text 6"/>
          <p:cNvSpPr txBox="1"/>
          <p:nvPr/>
        </p:nvSpPr>
        <p:spPr>
          <a:xfrm>
            <a:off x="731520" y="2514600"/>
            <a:ext cx="2834640" cy="1051560"/>
          </a:xfrm>
          <a:prstGeom prst="rect">
            <a:avLst/>
          </a:prstGeom>
          <a:noFill/>
          <a:ln/>
        </p:spPr>
        <p:txBody>
          <a:bodyPr wrap="square" lIns="0" tIns="0" rIns="0" bIns="0" rtlCol="0" anchor="t"/>
          <a:lstStyle/>
          <a:p>
            <a:pPr indent="0" marL="0">
              <a:buNone/>
            </a:pPr>
            <a:r>
              <a:rPr lang="en-US" sz="1400" dirty="0">
                <a:solidFill>
                  <a:srgbClr val="5B6478"/>
                </a:solidFill>
              </a:rPr>
              <a:t>Student, faculty and admin sign in and use their own pages</a:t>
            </a:r>
            <a:endParaRPr lang="en-US" sz="1400" dirty="0"/>
          </a:p>
        </p:txBody>
      </p:sp>
      <p:sp>
        <p:nvSpPr>
          <p:cNvPr id="10" name="Arrow"/>
          <p:cNvSpPr/>
          <p:nvPr/>
        </p:nvSpPr>
        <p:spPr>
          <a:xfrm>
            <a:off x="3886200" y="2423160"/>
            <a:ext cx="365760" cy="457200"/>
          </a:xfrm>
          <a:prstGeom prst="rightArrow">
            <a:avLst/>
          </a:prstGeom>
          <a:solidFill>
            <a:schemeClr val="accent1"/>
          </a:solidFill>
          <a:ln w="12700">
            <a:solidFill>
              <a:schemeClr val="accent1"/>
            </a:solidFill>
            <a:prstDash val="solid"/>
          </a:ln>
        </p:spPr>
      </p:sp>
      <p:sp>
        <p:nvSpPr>
          <p:cNvPr id="11" name="Tier Flask app"/>
          <p:cNvSpPr/>
          <p:nvPr/>
        </p:nvSpPr>
        <p:spPr>
          <a:xfrm>
            <a:off x="4343400" y="1600200"/>
            <a:ext cx="3337560" cy="2103120"/>
          </a:xfrm>
          <a:prstGeom prst="roundRect">
            <a:avLst>
              <a:gd name="adj" fmla="val 5217"/>
            </a:avLst>
          </a:prstGeom>
          <a:solidFill>
            <a:schemeClr val="bg2"/>
          </a:solidFill>
          <a:ln w="6350">
            <a:solidFill>
              <a:schemeClr val="bg2"/>
            </a:solidFill>
            <a:prstDash val="solid"/>
          </a:ln>
        </p:spPr>
      </p:sp>
      <p:pic>
        <p:nvPicPr>
          <p:cNvPr id="12" name="Image 1" descr="Flask app">    </p:cNvPr>
          <p:cNvPicPr>
            <a:picLocks noChangeAspect="1"/>
          </p:cNvPicPr>
          <p:nvPr/>
        </p:nvPicPr>
        <p:blipFill>
          <a:blip r:embed="rId2"/>
          <a:stretch>
            <a:fillRect/>
          </a:stretch>
        </p:blipFill>
        <p:spPr>
          <a:xfrm>
            <a:off x="4617720" y="1874520"/>
            <a:ext cx="457200" cy="457200"/>
          </a:xfrm>
          <a:prstGeom prst="rect">
            <a:avLst/>
          </a:prstGeom>
        </p:spPr>
      </p:pic>
      <p:sp>
        <p:nvSpPr>
          <p:cNvPr id="13" name="Text 9"/>
          <p:cNvSpPr txBox="1"/>
          <p:nvPr/>
        </p:nvSpPr>
        <p:spPr>
          <a:xfrm>
            <a:off x="5212080" y="1874520"/>
            <a:ext cx="2286000" cy="457200"/>
          </a:xfrm>
          <a:prstGeom prst="rect">
            <a:avLst/>
          </a:prstGeom>
          <a:noFill/>
          <a:ln/>
        </p:spPr>
        <p:txBody>
          <a:bodyPr wrap="square" lIns="0" tIns="0" rIns="0" bIns="0" rtlCol="0" anchor="ctr"/>
          <a:lstStyle/>
          <a:p>
            <a:pPr indent="0" marL="0">
              <a:buNone/>
            </a:pPr>
            <a:r>
              <a:rPr lang="en-US" sz="2000" b="1" dirty="0">
                <a:solidFill>
                  <a:schemeClr val="tx1"/>
                </a:solidFill>
              </a:rPr>
              <a:t>Flask app</a:t>
            </a:r>
            <a:endParaRPr lang="en-US" sz="2000" dirty="0"/>
          </a:p>
        </p:txBody>
      </p:sp>
      <p:sp>
        <p:nvSpPr>
          <p:cNvPr id="14" name="Text 10"/>
          <p:cNvSpPr txBox="1"/>
          <p:nvPr/>
        </p:nvSpPr>
        <p:spPr>
          <a:xfrm>
            <a:off x="4617720" y="2514600"/>
            <a:ext cx="2834640" cy="1051560"/>
          </a:xfrm>
          <a:prstGeom prst="rect">
            <a:avLst/>
          </a:prstGeom>
          <a:noFill/>
          <a:ln/>
        </p:spPr>
        <p:txBody>
          <a:bodyPr wrap="square" lIns="0" tIns="0" rIns="0" bIns="0" rtlCol="0" anchor="t"/>
          <a:lstStyle/>
          <a:p>
            <a:pPr indent="0" marL="0">
              <a:buNone/>
            </a:pPr>
            <a:r>
              <a:rPr lang="en-US" sz="1400" dirty="0">
                <a:solidFill>
                  <a:srgbClr val="5B6478"/>
                </a:solidFill>
              </a:rPr>
              <a:t>Reads the form, calls ONE parameterized query or stored procedure, shows the result</a:t>
            </a:r>
            <a:endParaRPr lang="en-US" sz="1400" dirty="0"/>
          </a:p>
        </p:txBody>
      </p:sp>
      <p:sp>
        <p:nvSpPr>
          <p:cNvPr id="15" name="Arrow"/>
          <p:cNvSpPr/>
          <p:nvPr/>
        </p:nvSpPr>
        <p:spPr>
          <a:xfrm>
            <a:off x="7772400" y="2423160"/>
            <a:ext cx="365760" cy="457200"/>
          </a:xfrm>
          <a:prstGeom prst="rightArrow">
            <a:avLst/>
          </a:prstGeom>
          <a:solidFill>
            <a:schemeClr val="accent1"/>
          </a:solidFill>
          <a:ln w="12700">
            <a:solidFill>
              <a:schemeClr val="accent1"/>
            </a:solidFill>
            <a:prstDash val="solid"/>
          </a:ln>
        </p:spPr>
      </p:sp>
      <p:sp>
        <p:nvSpPr>
          <p:cNvPr id="16" name="Tier MySQL 8"/>
          <p:cNvSpPr/>
          <p:nvPr/>
        </p:nvSpPr>
        <p:spPr>
          <a:xfrm>
            <a:off x="8229600" y="1600200"/>
            <a:ext cx="3337560" cy="2103120"/>
          </a:xfrm>
          <a:prstGeom prst="roundRect">
            <a:avLst>
              <a:gd name="adj" fmla="val 5217"/>
            </a:avLst>
          </a:prstGeom>
          <a:solidFill>
            <a:schemeClr val="accent6"/>
          </a:solidFill>
          <a:ln w="19050">
            <a:solidFill>
              <a:schemeClr val="accent1"/>
            </a:solidFill>
            <a:prstDash val="solid"/>
          </a:ln>
        </p:spPr>
      </p:sp>
      <p:pic>
        <p:nvPicPr>
          <p:cNvPr id="17" name="Image 2" descr="MySQL 8">    </p:cNvPr>
          <p:cNvPicPr>
            <a:picLocks noChangeAspect="1"/>
          </p:cNvPicPr>
          <p:nvPr/>
        </p:nvPicPr>
        <p:blipFill>
          <a:blip r:embed="rId3"/>
          <a:stretch>
            <a:fillRect/>
          </a:stretch>
        </p:blipFill>
        <p:spPr>
          <a:xfrm>
            <a:off x="8503920" y="1874520"/>
            <a:ext cx="457200" cy="457200"/>
          </a:xfrm>
          <a:prstGeom prst="rect">
            <a:avLst/>
          </a:prstGeom>
        </p:spPr>
      </p:pic>
      <p:sp>
        <p:nvSpPr>
          <p:cNvPr id="18" name="Text 13"/>
          <p:cNvSpPr txBox="1"/>
          <p:nvPr/>
        </p:nvSpPr>
        <p:spPr>
          <a:xfrm>
            <a:off x="9098280" y="1874520"/>
            <a:ext cx="2286000" cy="457200"/>
          </a:xfrm>
          <a:prstGeom prst="rect">
            <a:avLst/>
          </a:prstGeom>
          <a:noFill/>
          <a:ln/>
        </p:spPr>
        <p:txBody>
          <a:bodyPr wrap="square" lIns="0" tIns="0" rIns="0" bIns="0" rtlCol="0" anchor="ctr"/>
          <a:lstStyle/>
          <a:p>
            <a:pPr indent="0" marL="0">
              <a:buNone/>
            </a:pPr>
            <a:r>
              <a:rPr lang="en-US" sz="2000" b="1" dirty="0">
                <a:solidFill>
                  <a:schemeClr val="tx1"/>
                </a:solidFill>
              </a:rPr>
              <a:t>MySQL 8</a:t>
            </a:r>
            <a:endParaRPr lang="en-US" sz="2000" dirty="0"/>
          </a:p>
        </p:txBody>
      </p:sp>
      <p:sp>
        <p:nvSpPr>
          <p:cNvPr id="19" name="Text 14"/>
          <p:cNvSpPr txBox="1"/>
          <p:nvPr/>
        </p:nvSpPr>
        <p:spPr>
          <a:xfrm>
            <a:off x="8503920" y="2514600"/>
            <a:ext cx="2834640" cy="1051560"/>
          </a:xfrm>
          <a:prstGeom prst="rect">
            <a:avLst/>
          </a:prstGeom>
          <a:noFill/>
          <a:ln/>
        </p:spPr>
        <p:txBody>
          <a:bodyPr wrap="square" lIns="0" tIns="0" rIns="0" bIns="0" rtlCol="0" anchor="t"/>
          <a:lstStyle/>
          <a:p>
            <a:pPr indent="0" marL="0">
              <a:buNone/>
            </a:pPr>
            <a:r>
              <a:rPr lang="en-US" sz="1400" dirty="0">
                <a:solidFill>
                  <a:srgbClr val="5B6478"/>
                </a:solidFill>
              </a:rPr>
              <a:t>Constraints, triggers, procedures, transactions and views decide what is allowed</a:t>
            </a:r>
            <a:endParaRPr lang="en-US" sz="1400" dirty="0"/>
          </a:p>
        </p:txBody>
      </p:sp>
      <p:sp>
        <p:nvSpPr>
          <p:cNvPr id="20" name="Rule chip"/>
          <p:cNvSpPr/>
          <p:nvPr/>
        </p:nvSpPr>
        <p:spPr>
          <a:xfrm>
            <a:off x="457200" y="3977640"/>
            <a:ext cx="2679192" cy="960120"/>
          </a:xfrm>
          <a:prstGeom prst="roundRect">
            <a:avLst>
              <a:gd name="adj" fmla="val 9524"/>
            </a:avLst>
          </a:prstGeom>
          <a:solidFill>
            <a:schemeClr val="tx2"/>
          </a:solidFill>
          <a:ln w="12700">
            <a:solidFill>
              <a:schemeClr val="tx2"/>
            </a:solidFill>
            <a:prstDash val="solid"/>
          </a:ln>
        </p:spPr>
      </p:sp>
      <p:sp>
        <p:nvSpPr>
          <p:cNvPr id="21" name="Text 16"/>
          <p:cNvSpPr txBox="1"/>
          <p:nvPr/>
        </p:nvSpPr>
        <p:spPr>
          <a:xfrm>
            <a:off x="640080" y="3977640"/>
            <a:ext cx="2377440" cy="960120"/>
          </a:xfrm>
          <a:prstGeom prst="rect">
            <a:avLst/>
          </a:prstGeom>
          <a:noFill/>
          <a:ln/>
        </p:spPr>
        <p:txBody>
          <a:bodyPr wrap="square" lIns="0" tIns="0" rIns="0" bIns="0" rtlCol="0" anchor="ctr"/>
          <a:lstStyle/>
          <a:p>
            <a:pPr indent="0" marL="0">
              <a:buNone/>
            </a:pPr>
            <a:r>
              <a:rPr lang="en-US" sz="1700" b="1" dirty="0">
                <a:solidFill>
                  <a:schemeClr val="accent5"/>
                </a:solidFill>
              </a:rPr>
              <a:t>Constraints</a:t>
            </a:r>
            <a:endParaRPr lang="en-US" sz="1700" dirty="0"/>
          </a:p>
          <a:p>
            <a:pPr indent="0" marL="0">
              <a:buNone/>
            </a:pPr>
            <a:r>
              <a:rPr lang="en-US" sz="1300" dirty="0">
                <a:solidFill>
                  <a:schemeClr val="bg1"/>
                </a:solidFill>
              </a:rPr>
              <a:t>PK, FK, UNIQUE, CHECK, ENUM, NOT NULL</a:t>
            </a:r>
            <a:endParaRPr lang="en-US" sz="1700" dirty="0"/>
          </a:p>
        </p:txBody>
      </p:sp>
      <p:sp>
        <p:nvSpPr>
          <p:cNvPr id="22" name="Rule chip"/>
          <p:cNvSpPr/>
          <p:nvPr/>
        </p:nvSpPr>
        <p:spPr>
          <a:xfrm>
            <a:off x="3319272" y="3977640"/>
            <a:ext cx="2679192" cy="960120"/>
          </a:xfrm>
          <a:prstGeom prst="roundRect">
            <a:avLst>
              <a:gd name="adj" fmla="val 9524"/>
            </a:avLst>
          </a:prstGeom>
          <a:solidFill>
            <a:schemeClr val="tx2"/>
          </a:solidFill>
          <a:ln w="12700">
            <a:solidFill>
              <a:schemeClr val="tx2"/>
            </a:solidFill>
            <a:prstDash val="solid"/>
          </a:ln>
        </p:spPr>
      </p:sp>
      <p:sp>
        <p:nvSpPr>
          <p:cNvPr id="23" name="Text 18"/>
          <p:cNvSpPr txBox="1"/>
          <p:nvPr/>
        </p:nvSpPr>
        <p:spPr>
          <a:xfrm>
            <a:off x="3502152" y="3977640"/>
            <a:ext cx="2377440" cy="960120"/>
          </a:xfrm>
          <a:prstGeom prst="rect">
            <a:avLst/>
          </a:prstGeom>
          <a:noFill/>
          <a:ln/>
        </p:spPr>
        <p:txBody>
          <a:bodyPr wrap="square" lIns="0" tIns="0" rIns="0" bIns="0" rtlCol="0" anchor="ctr"/>
          <a:lstStyle/>
          <a:p>
            <a:pPr indent="0" marL="0">
              <a:buNone/>
            </a:pPr>
            <a:r>
              <a:rPr lang="en-US" sz="1700" b="1" dirty="0">
                <a:solidFill>
                  <a:schemeClr val="accent5"/>
                </a:solidFill>
              </a:rPr>
              <a:t>5 triggers</a:t>
            </a:r>
            <a:endParaRPr lang="en-US" sz="1700" dirty="0"/>
          </a:p>
          <a:p>
            <a:pPr indent="0" marL="0">
              <a:buNone/>
            </a:pPr>
            <a:r>
              <a:rPr lang="en-US" sz="1300" dirty="0">
                <a:solidFill>
                  <a:schemeClr val="bg1"/>
                </a:solidFill>
              </a:rPr>
              <a:t>overlap, stock, maintenance</a:t>
            </a:r>
            <a:endParaRPr lang="en-US" sz="1700" dirty="0"/>
          </a:p>
        </p:txBody>
      </p:sp>
      <p:sp>
        <p:nvSpPr>
          <p:cNvPr id="24" name="Rule chip"/>
          <p:cNvSpPr/>
          <p:nvPr/>
        </p:nvSpPr>
        <p:spPr>
          <a:xfrm>
            <a:off x="6181344" y="3977640"/>
            <a:ext cx="2679192" cy="960120"/>
          </a:xfrm>
          <a:prstGeom prst="roundRect">
            <a:avLst>
              <a:gd name="adj" fmla="val 9524"/>
            </a:avLst>
          </a:prstGeom>
          <a:solidFill>
            <a:schemeClr val="tx2"/>
          </a:solidFill>
          <a:ln w="12700">
            <a:solidFill>
              <a:schemeClr val="tx2"/>
            </a:solidFill>
            <a:prstDash val="solid"/>
          </a:ln>
        </p:spPr>
      </p:sp>
      <p:sp>
        <p:nvSpPr>
          <p:cNvPr id="25" name="Text 20"/>
          <p:cNvSpPr txBox="1"/>
          <p:nvPr/>
        </p:nvSpPr>
        <p:spPr>
          <a:xfrm>
            <a:off x="6364224" y="3977640"/>
            <a:ext cx="2377440" cy="960120"/>
          </a:xfrm>
          <a:prstGeom prst="rect">
            <a:avLst/>
          </a:prstGeom>
          <a:noFill/>
          <a:ln/>
        </p:spPr>
        <p:txBody>
          <a:bodyPr wrap="square" lIns="0" tIns="0" rIns="0" bIns="0" rtlCol="0" anchor="ctr"/>
          <a:lstStyle/>
          <a:p>
            <a:pPr indent="0" marL="0">
              <a:buNone/>
            </a:pPr>
            <a:r>
              <a:rPr lang="en-US" sz="1700" b="1" dirty="0">
                <a:solidFill>
                  <a:schemeClr val="accent5"/>
                </a:solidFill>
              </a:rPr>
              <a:t>4 procedures</a:t>
            </a:r>
            <a:endParaRPr lang="en-US" sz="1700" dirty="0"/>
          </a:p>
          <a:p>
            <a:pPr indent="0" marL="0">
              <a:buNone/>
            </a:pPr>
            <a:r>
              <a:rPr lang="en-US" sz="1300" dirty="0">
                <a:solidFill>
                  <a:schemeClr val="bg1"/>
                </a:solidFill>
              </a:rPr>
              <a:t>transaction + row lock</a:t>
            </a:r>
            <a:endParaRPr lang="en-US" sz="1700" dirty="0"/>
          </a:p>
        </p:txBody>
      </p:sp>
      <p:sp>
        <p:nvSpPr>
          <p:cNvPr id="26" name="Rule chip"/>
          <p:cNvSpPr/>
          <p:nvPr/>
        </p:nvSpPr>
        <p:spPr>
          <a:xfrm>
            <a:off x="9043416" y="3977640"/>
            <a:ext cx="2679192" cy="960120"/>
          </a:xfrm>
          <a:prstGeom prst="roundRect">
            <a:avLst>
              <a:gd name="adj" fmla="val 9524"/>
            </a:avLst>
          </a:prstGeom>
          <a:solidFill>
            <a:schemeClr val="tx2"/>
          </a:solidFill>
          <a:ln w="12700">
            <a:solidFill>
              <a:schemeClr val="tx2"/>
            </a:solidFill>
            <a:prstDash val="solid"/>
          </a:ln>
        </p:spPr>
      </p:sp>
      <p:sp>
        <p:nvSpPr>
          <p:cNvPr id="27" name="Text 22"/>
          <p:cNvSpPr txBox="1"/>
          <p:nvPr/>
        </p:nvSpPr>
        <p:spPr>
          <a:xfrm>
            <a:off x="9226296" y="3977640"/>
            <a:ext cx="2377440" cy="960120"/>
          </a:xfrm>
          <a:prstGeom prst="rect">
            <a:avLst/>
          </a:prstGeom>
          <a:noFill/>
          <a:ln/>
        </p:spPr>
        <p:txBody>
          <a:bodyPr wrap="square" lIns="0" tIns="0" rIns="0" bIns="0" rtlCol="0" anchor="ctr"/>
          <a:lstStyle/>
          <a:p>
            <a:pPr indent="0" marL="0">
              <a:buNone/>
            </a:pPr>
            <a:r>
              <a:rPr lang="en-US" sz="1700" b="1" dirty="0">
                <a:solidFill>
                  <a:schemeClr val="accent5"/>
                </a:solidFill>
              </a:rPr>
              <a:t>4 views</a:t>
            </a:r>
            <a:endParaRPr lang="en-US" sz="1700" dirty="0"/>
          </a:p>
          <a:p>
            <a:pPr indent="0" marL="0">
              <a:buNone/>
            </a:pPr>
            <a:r>
              <a:rPr lang="en-US" sz="1300" dirty="0">
                <a:solidFill>
                  <a:schemeClr val="bg1"/>
                </a:solidFill>
              </a:rPr>
              <a:t>reports and dashboards</a:t>
            </a:r>
            <a:endParaRPr lang="en-US" sz="1700" dirty="0"/>
          </a:p>
        </p:txBody>
      </p:sp>
      <p:sp>
        <p:nvSpPr>
          <p:cNvPr id="28" name="Text 23"/>
          <p:cNvSpPr txBox="1"/>
          <p:nvPr/>
        </p:nvSpPr>
        <p:spPr>
          <a:xfrm>
            <a:off x="457200" y="5166360"/>
            <a:ext cx="11274552" cy="822960"/>
          </a:xfrm>
          <a:prstGeom prst="rect">
            <a:avLst/>
          </a:prstGeom>
          <a:noFill/>
          <a:ln/>
        </p:spPr>
        <p:txBody>
          <a:bodyPr wrap="square" lIns="0" tIns="0" rIns="0" bIns="0" rtlCol="0" anchor="ctr"/>
          <a:lstStyle/>
          <a:p>
            <a:pPr indent="0" marL="0">
              <a:buNone/>
            </a:pPr>
            <a:r>
              <a:rPr lang="en-US" sz="1600" b="1" dirty="0">
                <a:solidFill>
                  <a:schemeClr val="accent1"/>
                </a:solidFill>
              </a:rPr>
              <a:t>Why this matters: </a:t>
            </a:r>
            <a:pPr indent="0" marL="0">
              <a:buNone/>
            </a:pPr>
            <a:r>
              <a:rPr lang="en-US" sz="1600" dirty="0">
                <a:solidFill>
                  <a:schemeClr val="tx1"/>
                </a:solidFill>
              </a:rPr>
              <a:t>even a direct INSERT typed into Workbench obeys the same rules. When MySQL refuses something, the website shows the exact trigger or constraint that refused it.</a:t>
            </a:r>
            <a:endParaRPr lang="en-US" sz="16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Database design: 11 tables in 3NF</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Affan</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ER model → relational schema · primary and foreign keys · CHECK · UNIQUE · indexes</a:t>
            </a:r>
            <a:endParaRPr lang="en-US" sz="1500" dirty="0"/>
          </a:p>
        </p:txBody>
      </p:sp>
      <p:sp>
        <p:nvSpPr>
          <p:cNvPr id="6" name="ER frame"/>
          <p:cNvSpPr/>
          <p:nvPr/>
        </p:nvSpPr>
        <p:spPr>
          <a:xfrm>
            <a:off x="438912" y="1444752"/>
            <a:ext cx="5660136" cy="2633472"/>
          </a:xfrm>
          <a:prstGeom prst="rect">
            <a:avLst/>
          </a:prstGeom>
          <a:solidFill>
            <a:schemeClr val="bg1"/>
          </a:solidFill>
          <a:ln w="9525">
            <a:solidFill>
              <a:srgbClr val="CBD5E1"/>
            </a:solidFill>
            <a:prstDash val="solid"/>
          </a:ln>
        </p:spPr>
      </p:sp>
      <p:pic>
        <p:nvPicPr>
          <p:cNvPr id="7" name="Image 0" descr="CampusHub ER diagram">    </p:cNvPr>
          <p:cNvPicPr>
            <a:picLocks noChangeAspect="1"/>
          </p:cNvPicPr>
          <p:nvPr/>
        </p:nvPicPr>
        <p:blipFill>
          <a:blip r:embed="rId1"/>
          <a:stretch>
            <a:fillRect/>
          </a:stretch>
        </p:blipFill>
        <p:spPr>
          <a:xfrm>
            <a:off x="457200" y="1463040"/>
            <a:ext cx="5623560" cy="2597596"/>
          </a:xfrm>
          <a:prstGeom prst="rect">
            <a:avLst/>
          </a:prstGeom>
        </p:spPr>
      </p:pic>
      <p:sp>
        <p:nvSpPr>
          <p:cNvPr id="8" name="Text 5"/>
          <p:cNvSpPr txBox="1"/>
          <p:nvPr/>
        </p:nvSpPr>
        <p:spPr>
          <a:xfrm>
            <a:off x="457200" y="4297680"/>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SCREEN</a:t>
            </a:r>
            <a:endParaRPr lang="en-US" sz="1100" dirty="0"/>
          </a:p>
        </p:txBody>
      </p:sp>
      <p:sp>
        <p:nvSpPr>
          <p:cNvPr id="9" name="Text 6"/>
          <p:cNvSpPr txBox="1"/>
          <p:nvPr/>
        </p:nvSpPr>
        <p:spPr>
          <a:xfrm>
            <a:off x="457200" y="4572000"/>
            <a:ext cx="5623560" cy="178308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Workbench Schemas panel: expand campushub → Tables, Views, Stored Procedures</a:t>
            </a:r>
            <a:endParaRPr lang="en-US" sz="1400" dirty="0"/>
          </a:p>
          <a:p>
            <a:pPr marL="342900" indent="-342900">
              <a:spcAft>
                <a:spcPts val="300"/>
              </a:spcAft>
              <a:buSzPct val="100000"/>
              <a:buFont typeface="+mj-lt"/>
              <a:buAutoNum type="arabicPeriod" startAt="1"/>
            </a:pPr>
            <a:r>
              <a:rPr lang="en-US" sz="1400" dirty="0">
                <a:solidFill>
                  <a:schemeClr val="tx1"/>
                </a:solidFill>
              </a:rPr>
              <a:t>Expand booking → Columns, Indexes, Foreign Keys, Triggers</a:t>
            </a:r>
            <a:endParaRPr lang="en-US" sz="1400" dirty="0"/>
          </a:p>
          <a:p>
            <a:pPr marL="342900" indent="-342900">
              <a:spcAft>
                <a:spcPts val="300"/>
              </a:spcAft>
              <a:buSzPct val="100000"/>
              <a:buFont typeface="+mj-lt"/>
              <a:buAutoNum type="arabicPeriod" startAt="1"/>
            </a:pPr>
            <a:r>
              <a:rPr lang="en-US" sz="1400" dirty="0">
                <a:solidFill>
                  <a:schemeClr val="tx1"/>
                </a:solidFill>
              </a:rPr>
              <a:t>10 core tables + user_account (added later for sign-in, as a separate migration)</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4</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SHOW TABLES;</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-- 11 tables (10 core + user_account)</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plus the 4 views</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SHOW CREATE TABLE booking;</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PRIMARY KEY (booking_id)</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FOREIGN KEY -&gt; facility, student, faculty</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CHECK chk_booking_time   (end &gt; start)</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CHECK chk_booking_person (exactly one booker)</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INDEX idx_booking_slot</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(facility_id, booking_date, start_time)</a:t>
            </a:r>
            <a:endParaRPr lang="en-US" sz="110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the design in the report is really implemented, with keys and constraints in MySQL.</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The rules inside MySQL</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Affan</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5 triggers · 4 stored procedures · 4 views, listed live from information_schema</a:t>
            </a:r>
            <a:endParaRPr lang="en-US" sz="1500" dirty="0"/>
          </a:p>
        </p:txBody>
      </p:sp>
      <p:sp>
        <p:nvSpPr>
          <p:cNvPr id="6" name="Screenshot frame"/>
          <p:cNvSpPr/>
          <p:nvPr/>
        </p:nvSpPr>
        <p:spPr>
          <a:xfrm>
            <a:off x="438912" y="1444752"/>
            <a:ext cx="5660136" cy="3155276"/>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118700"/>
          </a:xfrm>
          <a:prstGeom prst="rect">
            <a:avLst/>
          </a:prstGeom>
        </p:spPr>
      </p:pic>
      <p:sp>
        <p:nvSpPr>
          <p:cNvPr id="8" name="Text 5"/>
          <p:cNvSpPr txBox="1"/>
          <p:nvPr/>
        </p:nvSpPr>
        <p:spPr>
          <a:xfrm>
            <a:off x="457200" y="4782908"/>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057228"/>
            <a:ext cx="5623560" cy="1297852"/>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Admin menu → Database status</a:t>
            </a:r>
            <a:endParaRPr lang="en-US" sz="1400" dirty="0"/>
          </a:p>
          <a:p>
            <a:pPr marL="342900" indent="-342900">
              <a:spcAft>
                <a:spcPts val="300"/>
              </a:spcAft>
              <a:buSzPct val="100000"/>
              <a:buFont typeface="+mj-lt"/>
              <a:buAutoNum type="arabicPeriod" startAt="1"/>
            </a:pPr>
            <a:r>
              <a:rPr lang="en-US" sz="1400" dirty="0">
                <a:solidFill>
                  <a:schemeClr val="tx1"/>
                </a:solidFill>
              </a:rPr>
              <a:t>Point at the Triggers, Stored procedures and Views lists</a:t>
            </a:r>
            <a:endParaRPr lang="en-US" sz="1400" dirty="0"/>
          </a:p>
          <a:p>
            <a:pPr marL="342900" indent="-342900">
              <a:spcAft>
                <a:spcPts val="300"/>
              </a:spcAft>
              <a:buSzPct val="100000"/>
              <a:buFont typeface="+mj-lt"/>
              <a:buAutoNum type="arabicPeriod" startAt="1"/>
            </a:pPr>
            <a:r>
              <a:rPr lang="en-US" sz="1400" dirty="0">
                <a:solidFill>
                  <a:schemeClr val="tx1"/>
                </a:solidFill>
              </a:rPr>
              <a:t>These lists are read live from information_schema</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5</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TRIGGER_NAME, ACTION_TIMING,</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EVENT_MANIPULATION, EVENT_OBJECT_TABLE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information_schema.TRIGGERS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WHERE TRIGGER_SCHEMA = 'campushub';</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ROUTINE_NAME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information_schema.ROUTINES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WHERE ROUTINE_SCHEMA = 'campushub'</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AND ROUTINE_TYPE = 'PROCEDURE';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TABLE_NAME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information_schema.VIEWS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WHERE TABLE_SCHEMA = 'campushub';</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the database itself holds the logic: 5 triggers, 4 procedures and 4 views.</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Sign-in with three roles</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Hardik</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user_account table · salted password hashes · lockout after 5 wrong tries</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Private window → choose Student → 24BCE1101 / Campus@2026</a:t>
            </a:r>
            <a:endParaRPr lang="en-US" sz="1400" dirty="0"/>
          </a:p>
          <a:p>
            <a:pPr marL="342900" indent="-342900">
              <a:spcAft>
                <a:spcPts val="300"/>
              </a:spcAft>
              <a:buSzPct val="100000"/>
              <a:buFont typeface="+mj-lt"/>
              <a:buAutoNum type="arabicPeriod" startAt="1"/>
            </a:pPr>
            <a:r>
              <a:rPr lang="en-US" sz="1400" dirty="0">
                <a:solidFill>
                  <a:schemeClr val="tx1"/>
                </a:solidFill>
              </a:rPr>
              <a:t>Show a wrong password first: generic error message</a:t>
            </a:r>
            <a:endParaRPr lang="en-US" sz="1400" dirty="0"/>
          </a:p>
          <a:p>
            <a:pPr marL="342900" indent="-342900">
              <a:spcAft>
                <a:spcPts val="300"/>
              </a:spcAft>
              <a:buSzPct val="100000"/>
              <a:buFont typeface="+mj-lt"/>
              <a:buAutoNum type="arabicPeriod" startAt="1"/>
            </a:pPr>
            <a:r>
              <a:rPr lang="en-US" sz="1400" dirty="0">
                <a:solidFill>
                  <a:schemeClr val="tx1"/>
                </a:solidFill>
              </a:rPr>
              <a:t>Run the second query: last_login_at just changed</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6</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role, COUNT(*) AS accounts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user_account GROUP BY role;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ua.role,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COALESCE(s.name, f.name, a.name) AS person,</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LEFT(ua.password_hash, 30) AS stored_hash,</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ua.failed_attempts, ua.last_login_at</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user_account ua</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LEFT JOIN student s ON s.student_id = ua.student_id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LEFT JOIN faculty f ON f.faculty_id = ua.faculty_id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LEFT JOIN admin   a ON a.admin_id   = ua.admin_id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ORDER BY ua.last_login_at DESC LIMIT 5;</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only a hash is stored, never the password; each login belongs to one person.</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A student sees only their own data</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Hardik</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Row-level filtering: WHERE student_id = the signed-in student · admin pages return 403</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Student home: upcoming, today, on loan, overdue cards</a:t>
            </a:r>
            <a:endParaRPr lang="en-US" sz="1400" dirty="0"/>
          </a:p>
          <a:p>
            <a:pPr marL="342900" indent="-342900">
              <a:spcAft>
                <a:spcPts val="300"/>
              </a:spcAft>
              <a:buSzPct val="100000"/>
              <a:buFont typeface="+mj-lt"/>
              <a:buAutoNum type="arabicPeriod" startAt="1"/>
            </a:pPr>
            <a:r>
              <a:rPr lang="en-US" sz="1400" dirty="0">
                <a:solidFill>
                  <a:schemeClr val="tx1"/>
                </a:solidFill>
              </a:rPr>
              <a:t>Short menu: no admin pages; type /reports → Access denied</a:t>
            </a:r>
            <a:endParaRPr lang="en-US" sz="1400" dirty="0"/>
          </a:p>
          <a:p>
            <a:pPr marL="342900" indent="-342900">
              <a:spcAft>
                <a:spcPts val="300"/>
              </a:spcAft>
              <a:buSzPct val="100000"/>
              <a:buFont typeface="+mj-lt"/>
              <a:buAutoNum type="arabicPeriod" startAt="1"/>
            </a:pPr>
            <a:r>
              <a:rPr lang="en-US" sz="1400" dirty="0">
                <a:solidFill>
                  <a:schemeClr val="tx1"/>
                </a:solidFill>
              </a:rPr>
              <a:t>Availability: other people's bookings show only as Booked</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7</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b.booking_id, f.facility_name,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b.booking_date, b.start_time, b.end_time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booking b</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JOIN facility f ON f.facility_id = b.facility_id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JOIN student  s ON s.student_id  = b.student_id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WHERE s.registration_no = '24BCE1101'</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AND b.status = 'CONFIRMED'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AND b.booking_date &gt;= CURDATE()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ORDER BY b.booking_date, b.start_time;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number of rows = the "Upcoming bookings"</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card on the student's home page</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the card is a live query filtered to this one student.</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Booking through a stored procedure</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Hardik</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sp_create_booking: START TRANSACTION · SELECT … FOR UPDATE · INSERT · COMMIT</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Book a facility → tomorrow 10:00–11:00 → Confirm</a:t>
            </a:r>
            <a:endParaRPr lang="en-US" sz="1400" dirty="0"/>
          </a:p>
          <a:p>
            <a:pPr marL="342900" indent="-342900">
              <a:spcAft>
                <a:spcPts val="300"/>
              </a:spcAft>
              <a:buSzPct val="100000"/>
              <a:buFont typeface="+mj-lt"/>
              <a:buAutoNum type="arabicPeriod" startAt="1"/>
            </a:pPr>
            <a:r>
              <a:rPr lang="en-US" sz="1400" dirty="0">
                <a:solidFill>
                  <a:schemeClr val="tx1"/>
                </a:solidFill>
              </a:rPr>
              <a:t>No 'booked by' box: a student books only in their own name</a:t>
            </a:r>
            <a:endParaRPr lang="en-US" sz="1400" dirty="0"/>
          </a:p>
          <a:p>
            <a:pPr marL="342900" indent="-342900">
              <a:spcAft>
                <a:spcPts val="300"/>
              </a:spcAft>
              <a:buSzPct val="100000"/>
              <a:buFont typeface="+mj-lt"/>
              <a:buAutoNum type="arabicPeriod" startAt="1"/>
            </a:pPr>
            <a:r>
              <a:rPr lang="en-US" sz="1400" dirty="0">
                <a:solidFill>
                  <a:schemeClr val="tx1"/>
                </a:solidFill>
              </a:rPr>
              <a:t>Booking page shows the exact CALL that MySQL ran</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SLIDES 8–9</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b.booking_id, f.facility_name,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COALESCE(s.name, fa.name) AS booked_by,</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b.booking_date, b.start_time, b.end_time,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b.status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booking b</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JOIN facility f ON f.facility_id = b.facility_id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LEFT JOIN student s  ON s.student_id  = b.student_id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LEFT JOIN faculty fa ON fa.faculty_id = b.faculty_id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ORDER BY b.booking_id DESC LIMIT 3;</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new row: booked_by = Aarav Sharma, CONFIRMED</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the booking was written by the procedure, in the signed-in student's name.</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Double booking is refused by trigger T1</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Affan</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BEFORE INSERT trigger · overlap rule · SIGNAL SQLSTATE '45000' · ROLLBACK</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Same room, same date, 10:30–11:30 → Confirm</a:t>
            </a:r>
            <a:endParaRPr lang="en-US" sz="1400" dirty="0"/>
          </a:p>
          <a:p>
            <a:pPr marL="342900" indent="-342900">
              <a:spcAft>
                <a:spcPts val="300"/>
              </a:spcAft>
              <a:buSzPct val="100000"/>
              <a:buFont typeface="+mj-lt"/>
              <a:buAutoNum type="arabicPeriod" startAt="1"/>
            </a:pPr>
            <a:r>
              <a:rPr lang="en-US" sz="1400" dirty="0">
                <a:solidFill>
                  <a:schemeClr val="tx1"/>
                </a:solidFill>
              </a:rPr>
              <a:t>Red box: Rejected by MySQL, trg_booking_before_insert</a:t>
            </a:r>
            <a:endParaRPr lang="en-US" sz="1400" dirty="0"/>
          </a:p>
          <a:p>
            <a:pPr marL="342900" indent="-342900">
              <a:spcAft>
                <a:spcPts val="300"/>
              </a:spcAft>
              <a:buSzPct val="100000"/>
              <a:buFont typeface="+mj-lt"/>
              <a:buAutoNum type="arabicPeriod" startAt="1"/>
            </a:pPr>
            <a:r>
              <a:rPr lang="en-US" sz="1400" dirty="0">
                <a:solidFill>
                  <a:schemeClr val="tx1"/>
                </a:solidFill>
              </a:rPr>
              <a:t>Re-run the latest-bookings query: no new row</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9</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SHOW CREATE TRIGGER trg_booking_before_insert;</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the part that refused the booking:</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IF NEW.status = 'CONFIRMED' AND EXISTS (</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SELECT 1 FROM booking b</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WHERE b.facility_id  = NEW.facility_id</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AND b.booking_date = NEW.booking_date</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AND b.status       = 'CONFIRMED'</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AND b.start_time   &lt; NEW.end_time</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AND b.end_time     &gt; NEW.start_time)</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THEN SIGNAL SQLSTATE '45000' SET MESSAGE_TEXT</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 'Time slot overlaps an existing booking';</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MySQL, not the website, rejected the clash, and nothing was saved.</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Back-to-back is allowed, cancelling keeps history</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Affan</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Strict &lt; and &gt; in the overlap rule · cancel = status change, not DELETE</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Same room, 11:00–12:00 → accepted (touches 11:00 only)</a:t>
            </a:r>
            <a:endParaRPr lang="en-US" sz="1400" dirty="0"/>
          </a:p>
          <a:p>
            <a:pPr marL="342900" indent="-342900">
              <a:spcAft>
                <a:spcPts val="300"/>
              </a:spcAft>
              <a:buSzPct val="100000"/>
              <a:buFont typeface="+mj-lt"/>
              <a:buAutoNum type="arabicPeriod" startAt="1"/>
            </a:pPr>
            <a:r>
              <a:rPr lang="en-US" sz="1400" dirty="0">
                <a:solidFill>
                  <a:schemeClr val="tx1"/>
                </a:solidFill>
              </a:rPr>
              <a:t>My bookings → Cancel one → confirm in the pop-up</a:t>
            </a:r>
            <a:endParaRPr lang="en-US" sz="1400" dirty="0"/>
          </a:p>
          <a:p>
            <a:pPr marL="342900" indent="-342900">
              <a:spcAft>
                <a:spcPts val="300"/>
              </a:spcAft>
              <a:buSzPct val="100000"/>
              <a:buFont typeface="+mj-lt"/>
              <a:buAutoNum type="arabicPeriod" startAt="1"/>
            </a:pPr>
            <a:r>
              <a:rPr lang="en-US" sz="1400" dirty="0">
                <a:solidFill>
                  <a:schemeClr val="tx1"/>
                </a:solidFill>
              </a:rPr>
              <a:t>Re-run the query: row still there, status CANCELLED</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10</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x.booking_id, x.start_time,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x.end_time, x.status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booking x</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JOIN (SELECT facility_id, booking_date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FROM booking</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ORDER BY booking_id DESC LIMIT 1) last</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ON last.facility_id  = x.facility_id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AND last.booking_date = x.booking_date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ORDER BY x.start_time;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-- 10:00-11:00 and 11:00-12:00 side by side</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the cancelled booking stays as history</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11:00 &lt; 11:00 is false, so touching slots don't clash; history is kept for reports.</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Equipment issue and return: T2 and T3</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Hardik</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sp_issue_equipment + BEFORE INSERT trigger (stock − 1) · AFTER UPDATE trigger (stock + 1)</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Sign in as admin → Inventory → Issue on an item → Issue item</a:t>
            </a:r>
            <a:endParaRPr lang="en-US" sz="1400" dirty="0"/>
          </a:p>
          <a:p>
            <a:pPr marL="342900" indent="-342900">
              <a:spcAft>
                <a:spcPts val="300"/>
              </a:spcAft>
              <a:buSzPct val="100000"/>
              <a:buFont typeface="+mj-lt"/>
              <a:buAutoNum type="arabicPeriod" startAt="1"/>
            </a:pPr>
            <a:r>
              <a:rPr lang="en-US" sz="1400" dirty="0">
                <a:solidFill>
                  <a:schemeClr val="tx1"/>
                </a:solidFill>
              </a:rPr>
              <a:t>Run the query: available_qty dropped by 1</a:t>
            </a:r>
            <a:endParaRPr lang="en-US" sz="1400" dirty="0"/>
          </a:p>
          <a:p>
            <a:pPr marL="342900" indent="-342900">
              <a:spcAft>
                <a:spcPts val="300"/>
              </a:spcAft>
              <a:buSzPct val="100000"/>
              <a:buFont typeface="+mj-lt"/>
              <a:buAutoNum type="arabicPeriod" startAt="1"/>
            </a:pPr>
            <a:r>
              <a:rPr lang="en-US" sz="1400" dirty="0">
                <a:solidFill>
                  <a:schemeClr val="tx1"/>
                </a:solidFill>
              </a:rPr>
              <a:t>Issue history → Return → run again: back up by 1</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11</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ei.issue_id, e.equipment_name,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e.quantity, e.available_qty,</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COALESCE(s.name, fa.name) AS issued_to,</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ei.due_date, ei.status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equipment_issue ei</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JOIN equipment e ON e.equipment_id = ei.equipment_id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LEFT JOIN student s  ON s.student_id  = ei.student_id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LEFT JOIN faculty fa ON fa.faculty_id = ei.faculty_id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ORDER BY ei.issue_id DESC LIMIT 3;</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issue:  available_qty - 1   (trigger T2)</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return: available_qty + 1   (trigger T3)</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stock is maintained by triggers; the app never changes it directly.</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Issuing an item with no stock is refused</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Hardik</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Trigger T2 checks stock inside the same statement · CHECK keeps 0 ≤ available ≤ total</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Inventory → Issue on an item marked Out of stock</a:t>
            </a:r>
            <a:endParaRPr lang="en-US" sz="1400" dirty="0"/>
          </a:p>
          <a:p>
            <a:pPr marL="342900" indent="-342900">
              <a:spcAft>
                <a:spcPts val="300"/>
              </a:spcAft>
              <a:buSzPct val="100000"/>
              <a:buFont typeface="+mj-lt"/>
              <a:buAutoNum type="arabicPeriod" startAt="1"/>
            </a:pPr>
            <a:r>
              <a:rPr lang="en-US" sz="1400" dirty="0">
                <a:solidFill>
                  <a:schemeClr val="tx1"/>
                </a:solidFill>
              </a:rPr>
              <a:t>Red box: Rejected by MySQL, trg_issue_before_insert</a:t>
            </a:r>
            <a:endParaRPr lang="en-US" sz="1400" dirty="0"/>
          </a:p>
          <a:p>
            <a:pPr marL="342900" indent="-342900">
              <a:spcAft>
                <a:spcPts val="300"/>
              </a:spcAft>
              <a:buSzPct val="100000"/>
              <a:buFont typeface="+mj-lt"/>
              <a:buAutoNum type="arabicPeriod" startAt="1"/>
            </a:pPr>
            <a:r>
              <a:rPr lang="en-US" sz="1400" dirty="0">
                <a:solidFill>
                  <a:schemeClr val="tx1"/>
                </a:solidFill>
              </a:rPr>
              <a:t>Re-run the slide 11 query: no new issue, stock unchanged</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12</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equipment_name, quantity,</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available_qty, availability_status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equipment</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WHERE available_qty = 0;</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inside trigger T2:</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IF (SELECT available_qty FROM equipment</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WHERE equipment_id = NEW.equipment_id) &lt; 1</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THEN SIGNAL SQLSTATE '45000' SET MESSAGE_TEXT</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 'No unit of this equipment is available';</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ELSE UPDATE equipment</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SET available_qty = available_qty - 1 ...</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the database protects the stock count even if the website tried to over-issue.</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Reports from views and GROUP BY queries</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Hardik</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Views · LEFT JOIN · GROUP BY · HAVING · COALESCE · CSV export</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Admin → Reports: change the date range or department → Apply</a:t>
            </a:r>
            <a:endParaRPr lang="en-US" sz="1400" dirty="0"/>
          </a:p>
          <a:p>
            <a:pPr marL="342900" indent="-342900">
              <a:spcAft>
                <a:spcPts val="300"/>
              </a:spcAft>
              <a:buSzPct val="100000"/>
              <a:buFont typeface="+mj-lt"/>
              <a:buAutoNum type="arabicPeriod" startAt="1"/>
            </a:pPr>
            <a:r>
              <a:rPr lang="en-US" sz="1400" dirty="0">
                <a:solidFill>
                  <a:schemeClr val="tx1"/>
                </a:solidFill>
              </a:rPr>
              <a:t>Download one block as CSV (opens in Excel)</a:t>
            </a:r>
            <a:endParaRPr lang="en-US" sz="1400" dirty="0"/>
          </a:p>
          <a:p>
            <a:pPr marL="342900" indent="-342900">
              <a:spcAft>
                <a:spcPts val="300"/>
              </a:spcAft>
              <a:buSzPct val="100000"/>
              <a:buFont typeface="+mj-lt"/>
              <a:buAutoNum type="arabicPeriod" startAt="1"/>
            </a:pPr>
            <a:r>
              <a:rPr lang="en-US" sz="1400" dirty="0">
                <a:solidFill>
                  <a:schemeClr val="tx1"/>
                </a:solidFill>
              </a:rPr>
              <a:t>Run the matching query: the same numbers</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13</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SELECT facility_name, total_bookings, hours_booked</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FROM vw_facility_usage</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ORDER BY total_bookings DESC LIMIT 5;</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SELECT d.department_name, COUNT(*) AS bookings</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FROM booking b</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LEFT JOIN student s  ON s.student_id  = b.student_id</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LEFT JOIN faculty fa ON fa.faculty_id = b.faculty_id</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JOIN department d ON d.department_id =</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     COALESCE(s.department_id, fa.department_id)</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WHERE b.status &lt;&gt; 'CANCELLED'</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GROUP BY d.department_name ORDER BY bookings DESC;</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 </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SELECT f.facility_name, COUNT(*) AS requests</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FROM maintenance m JOIN facility f</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  ON f.facility_id = m.facility_id</a:t>
            </a:r>
            <a:endParaRPr lang="en-US" sz="1050" dirty="0"/>
          </a:p>
          <a:p>
            <a:pPr indent="0" marL="0">
              <a:lnSpc>
                <a:spcPct val="100000"/>
              </a:lnSpc>
              <a:buNone/>
            </a:pPr>
            <a:r>
              <a:rPr lang="en-US" sz="1050" dirty="0">
                <a:solidFill>
                  <a:srgbClr val="E6EBF7"/>
                </a:solidFill>
                <a:latin typeface="Courier New" pitchFamily="34" charset="0"/>
                <a:ea typeface="Courier New" pitchFamily="34" charset="-122"/>
                <a:cs typeface="Courier New" pitchFamily="34" charset="-120"/>
              </a:rPr>
              <a:t>GROUP BY f.facility_name HAVING COUNT(*) &gt; 1;</a:t>
            </a:r>
            <a:endParaRPr lang="en-US" sz="10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every chart and table is a real SQL result, and the filters are parameterized.</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Faculty reports a fault: trigger T4</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Arham</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sp_record_maintenance + AFTER INSERT trigger → facility UNDER_MAINTENANCE</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Private window: Faculty → F1001 / Campus@2026</a:t>
            </a:r>
            <a:endParaRPr lang="en-US" sz="1400" dirty="0"/>
          </a:p>
          <a:p>
            <a:pPr marL="342900" indent="-342900">
              <a:spcAft>
                <a:spcPts val="300"/>
              </a:spcAft>
              <a:buSzPct val="100000"/>
              <a:buFont typeface="+mj-lt"/>
              <a:buAutoNum type="arabicPeriod" startAt="1"/>
            </a:pPr>
            <a:r>
              <a:rPr lang="en-US" sz="1400" dirty="0">
                <a:solidFill>
                  <a:schemeClr val="tx1"/>
                </a:solidFill>
              </a:rPr>
              <a:t>Report a fault → choose a room → describe → Send report</a:t>
            </a:r>
            <a:endParaRPr lang="en-US" sz="1400" dirty="0"/>
          </a:p>
          <a:p>
            <a:pPr marL="342900" indent="-342900">
              <a:spcAft>
                <a:spcPts val="300"/>
              </a:spcAft>
              <a:buSzPct val="100000"/>
              <a:buFont typeface="+mj-lt"/>
              <a:buAutoNum type="arabicPeriod" startAt="1"/>
            </a:pPr>
            <a:r>
              <a:rPr lang="en-US" sz="1400" dirty="0">
                <a:solidFill>
                  <a:schemeClr val="tx1"/>
                </a:solidFill>
              </a:rPr>
              <a:t>Try booking that room: refused (T1 status check)</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SLIDES 14–15</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m.maintenance_id, f.facility_name,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f.status AS facility_status,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m.issue_description,</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m.status AS request_status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maintenance m</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JOIN facility f ON f.facility_id = m.facility_id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ORDER BY m.maintenance_id DESC LIMIT 3;</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after the report:</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request_status  = REPORTED</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facility_status = UNDER_MAINTENANCE  (T4)</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one INSERT into maintenance automatically closed the facility.</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Admin completes the repair: trigger T5</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Arham</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AFTER UPDATE trigger with NOT EXISTS → room reopens only after its LAST open request</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Admin → Maintenance → find the new request</a:t>
            </a:r>
            <a:endParaRPr lang="en-US" sz="1400" dirty="0"/>
          </a:p>
          <a:p>
            <a:pPr marL="342900" indent="-342900">
              <a:spcAft>
                <a:spcPts val="300"/>
              </a:spcAft>
              <a:buSzPct val="100000"/>
              <a:buFont typeface="+mj-lt"/>
              <a:buAutoNum type="arabicPeriod" startAt="1"/>
            </a:pPr>
            <a:r>
              <a:rPr lang="en-US" sz="1400" dirty="0">
                <a:solidFill>
                  <a:schemeClr val="tx1"/>
                </a:solidFill>
              </a:rPr>
              <a:t>Start work, then Complete → confirm</a:t>
            </a:r>
            <a:endParaRPr lang="en-US" sz="1400" dirty="0"/>
          </a:p>
          <a:p>
            <a:pPr marL="342900" indent="-342900">
              <a:spcAft>
                <a:spcPts val="300"/>
              </a:spcAft>
              <a:buSzPct val="100000"/>
              <a:buFont typeface="+mj-lt"/>
              <a:buAutoNum type="arabicPeriod" startAt="1"/>
            </a:pPr>
            <a:r>
              <a:rPr lang="en-US" sz="1400" dirty="0">
                <a:solidFill>
                  <a:schemeClr val="tx1"/>
                </a:solidFill>
              </a:rPr>
              <a:t>Run the slide 14 query again: AVAILABLE</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15</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run the slide 14 query again:</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request_status  = COMPLETED</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facility_status = AVAILABLE           (T5)</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inside trigger T5:</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IF NEW.status = 'COMPLETED'</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AND OLD.status &lt;&gt; 'COMPLETED'</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AND NOT EXISTS (SELECT 1 FROM maintenance</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WHERE facility_id = NEW.facility_id</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AND status &lt;&gt; 'COMPLETED')</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THEN UPDATE facility SET status = 'AVAILABLE'</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WHERE facility_id = NEW.facility_id;</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a room with two open faults stays closed until both are fixed.</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Admin dashboard: every number is live SQL</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Arham</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8 KPIs from COUNT / SUM subqueries · charts drawn from GROUP BY results</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Admin → Dashboard: read out the eight cards</a:t>
            </a:r>
            <a:endParaRPr lang="en-US" sz="1400" dirty="0"/>
          </a:p>
          <a:p>
            <a:pPr marL="342900" indent="-342900">
              <a:spcAft>
                <a:spcPts val="300"/>
              </a:spcAft>
              <a:buSzPct val="100000"/>
              <a:buFont typeface="+mj-lt"/>
              <a:buAutoNum type="arabicPeriod" startAt="1"/>
            </a:pPr>
            <a:r>
              <a:rPr lang="en-US" sz="1400" dirty="0">
                <a:solidFill>
                  <a:schemeClr val="tx1"/>
                </a:solidFill>
              </a:rPr>
              <a:t>Run the query: the same numbers</a:t>
            </a:r>
            <a:endParaRPr lang="en-US" sz="1400" dirty="0"/>
          </a:p>
          <a:p>
            <a:pPr marL="342900" indent="-342900">
              <a:spcAft>
                <a:spcPts val="300"/>
              </a:spcAft>
              <a:buSzPct val="100000"/>
              <a:buFont typeface="+mj-lt"/>
              <a:buAutoNum type="arabicPeriod" startAt="1"/>
            </a:pPr>
            <a:r>
              <a:rPr lang="en-US" sz="1400" dirty="0">
                <a:solidFill>
                  <a:schemeClr val="tx1"/>
                </a:solidFill>
              </a:rPr>
              <a:t>Click a card (Overdue returns) to drill down</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16</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SELECT</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(SELECT COUNT(*) FROM facility) AS facilities,</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(SELECT COUNT(*) FROM facility</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WHERE status = 'AVAILABLE') AS available,</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(SELECT COUNT(*) FROM booking</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WHERE status = 'CONFIRMED'</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AND booking_date &gt;= CURDATE()) AS upcoming,</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(SELECT COUNT(*) FROM equipment_issue</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WHERE status = 'ISSUED') AS on_loan,</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(SELECT COUNT(*) FROM maintenance</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WHERE status &lt;&gt; 'COMPLETED') AS open_maint,</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(SELECT COUNT(*) FROM equipment_issue</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WHERE status = 'ISSUED'</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AND due_date &lt; CURDATE()) AS overdue;</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all 8 cards: sql/review_demo_queries.sql</a:t>
            </a:r>
            <a:endParaRPr lang="en-US" sz="110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the dashboard is not hard-coded; it reads the database on every load.</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Accounts and security</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Arham</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Admin resets a password → temporary, must be changed · CSRF tokens · deny-by-default access</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Admin → Accounts → search Diya → Reset password</a:t>
            </a:r>
            <a:endParaRPr lang="en-US" sz="1400" dirty="0"/>
          </a:p>
          <a:p>
            <a:pPr marL="342900" indent="-342900">
              <a:spcAft>
                <a:spcPts val="300"/>
              </a:spcAft>
              <a:buSzPct val="100000"/>
              <a:buFont typeface="+mj-lt"/>
              <a:buAutoNum type="arabicPeriod" startAt="1"/>
            </a:pPr>
            <a:r>
              <a:rPr lang="en-US" sz="1400" dirty="0">
                <a:solidFill>
                  <a:schemeClr val="tx1"/>
                </a:solidFill>
              </a:rPr>
              <a:t>Temporary password is shown once; she must change it</a:t>
            </a:r>
            <a:endParaRPr lang="en-US" sz="1400" dirty="0"/>
          </a:p>
          <a:p>
            <a:pPr marL="342900" indent="-342900">
              <a:spcAft>
                <a:spcPts val="300"/>
              </a:spcAft>
              <a:buSzPct val="100000"/>
              <a:buFont typeface="+mj-lt"/>
              <a:buAutoNum type="arabicPeriod" startAt="1"/>
            </a:pPr>
            <a:r>
              <a:rPr lang="en-US" sz="1400" dirty="0">
                <a:solidFill>
                  <a:schemeClr val="tx1"/>
                </a:solidFill>
              </a:rPr>
              <a:t>Search box: ' OR '1'='1 finds nothing (parameterized SQL)</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VERIFY IN WORKBENCH · SLIDE 17</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s.name, ua.must_change_password,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ua.is_active, ua.failed_attempts,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ua.password_changed_at</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user_account ua</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JOIN student s ON s.student_id = ua.student_id</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WHERE s.registration_no = '24BCE1102';</a:t>
            </a:r>
            <a:endParaRPr lang="en-US" sz="1150" dirty="0"/>
          </a:p>
          <a:p>
            <a:pPr indent="0" marL="0">
              <a:lnSpc>
                <a:spcPct val="100000"/>
              </a:lnSpc>
              <a:buNone/>
            </a:pPr>
            <a:r>
              <a:rPr lang="en-US" sz="1150" dirty="0">
                <a:solidFill>
                  <a:srgbClr val="8FA1C7"/>
                </a:solidFill>
                <a:latin typeface="Courier New" pitchFamily="34" charset="0"/>
                <a:ea typeface="Courier New" pitchFamily="34" charset="-122"/>
                <a:cs typeface="Courier New" pitchFamily="34" charset="-120"/>
              </a:rPr>
              <a:t>-- after Reset: must_change_password = 1</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 </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SELECT CONSTRAINT_NAME, CHECK_CLAUSE</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FROM information_schema.CHECK_CONSTRAINTS</a:t>
            </a:r>
            <a:endParaRPr lang="en-US" sz="1150" dirty="0"/>
          </a:p>
          <a:p>
            <a:pPr indent="0" marL="0">
              <a:lnSpc>
                <a:spcPct val="100000"/>
              </a:lnSpc>
              <a:buNone/>
            </a:pPr>
            <a:r>
              <a:rPr lang="en-US" sz="1150" dirty="0">
                <a:solidFill>
                  <a:srgbClr val="E6EBF7"/>
                </a:solidFill>
                <a:latin typeface="Courier New" pitchFamily="34" charset="0"/>
                <a:ea typeface="Courier New" pitchFamily="34" charset="-122"/>
                <a:cs typeface="Courier New" pitchFamily="34" charset="-120"/>
              </a:rPr>
              <a:t>WHERE CONSTRAINT_NAME = 'chk_account_owner';</a:t>
            </a:r>
            <a:endParaRPr lang="en-US" sz="115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account changes are stored in MySQL, and a CHECK ties each login to exactly one person.</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How we tested it</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Arham</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Positive and negative tests for every rule: valid data must pass, invalid data must be refused</a:t>
            </a:r>
            <a:endParaRPr lang="en-US" sz="1500" dirty="0"/>
          </a:p>
        </p:txBody>
      </p:sp>
      <p:sp>
        <p:nvSpPr>
          <p:cNvPr id="6" name="Stat"/>
          <p:cNvSpPr/>
          <p:nvPr/>
        </p:nvSpPr>
        <p:spPr>
          <a:xfrm>
            <a:off x="457200" y="1600200"/>
            <a:ext cx="1783080" cy="3017520"/>
          </a:xfrm>
          <a:prstGeom prst="roundRect">
            <a:avLst>
              <a:gd name="adj" fmla="val 6154"/>
            </a:avLst>
          </a:prstGeom>
          <a:solidFill>
            <a:schemeClr val="bg2"/>
          </a:solidFill>
          <a:ln w="12700">
            <a:solidFill>
              <a:schemeClr val="bg2"/>
            </a:solidFill>
            <a:prstDash val="solid"/>
          </a:ln>
        </p:spPr>
      </p:sp>
      <p:sp>
        <p:nvSpPr>
          <p:cNvPr id="7" name="Text 5"/>
          <p:cNvSpPr txBox="1"/>
          <p:nvPr/>
        </p:nvSpPr>
        <p:spPr>
          <a:xfrm>
            <a:off x="457200" y="1783080"/>
            <a:ext cx="1783080" cy="914400"/>
          </a:xfrm>
          <a:prstGeom prst="rect">
            <a:avLst/>
          </a:prstGeom>
          <a:noFill/>
          <a:ln/>
        </p:spPr>
        <p:txBody>
          <a:bodyPr wrap="square" lIns="0" tIns="0" rIns="0" bIns="0" rtlCol="0" anchor="ctr"/>
          <a:lstStyle/>
          <a:p>
            <a:pPr algn="ctr" indent="0" marL="0">
              <a:buNone/>
            </a:pPr>
            <a:r>
              <a:rPr lang="en-US" sz="5400" b="1" dirty="0">
                <a:solidFill>
                  <a:schemeClr val="accent1"/>
                </a:solidFill>
              </a:rPr>
              <a:t>20</a:t>
            </a:r>
            <a:endParaRPr lang="en-US" sz="5400" dirty="0"/>
          </a:p>
        </p:txBody>
      </p:sp>
      <p:sp>
        <p:nvSpPr>
          <p:cNvPr id="8" name="Text 6"/>
          <p:cNvSpPr txBox="1"/>
          <p:nvPr/>
        </p:nvSpPr>
        <p:spPr>
          <a:xfrm>
            <a:off x="594360" y="2743200"/>
            <a:ext cx="1508760" cy="685800"/>
          </a:xfrm>
          <a:prstGeom prst="rect">
            <a:avLst/>
          </a:prstGeom>
          <a:noFill/>
          <a:ln/>
        </p:spPr>
        <p:txBody>
          <a:bodyPr wrap="square" lIns="0" tIns="0" rIns="0" bIns="0" rtlCol="0" anchor="t"/>
          <a:lstStyle/>
          <a:p>
            <a:pPr algn="ctr" indent="0" marL="0">
              <a:buNone/>
            </a:pPr>
            <a:r>
              <a:rPr lang="en-US" sz="1400" b="1" dirty="0">
                <a:solidFill>
                  <a:schemeClr val="tx1"/>
                </a:solidFill>
              </a:rPr>
              <a:t>rule checks run inside MySQL</a:t>
            </a:r>
            <a:endParaRPr lang="en-US" sz="1400" dirty="0"/>
          </a:p>
        </p:txBody>
      </p:sp>
      <p:sp>
        <p:nvSpPr>
          <p:cNvPr id="9" name="Text 7"/>
          <p:cNvSpPr txBox="1"/>
          <p:nvPr/>
        </p:nvSpPr>
        <p:spPr>
          <a:xfrm>
            <a:off x="594360" y="3474720"/>
            <a:ext cx="1508760" cy="1051560"/>
          </a:xfrm>
          <a:prstGeom prst="rect">
            <a:avLst/>
          </a:prstGeom>
          <a:noFill/>
          <a:ln/>
        </p:spPr>
        <p:txBody>
          <a:bodyPr wrap="square" lIns="0" tIns="0" rIns="0" bIns="0" rtlCol="0" anchor="t"/>
          <a:lstStyle/>
          <a:p>
            <a:pPr algn="ctr" indent="0" marL="0">
              <a:buNone/>
            </a:pPr>
            <a:r>
              <a:rPr lang="en-US" sz="1200" dirty="0">
                <a:solidFill>
                  <a:srgbClr val="5B6478"/>
                </a:solidFill>
              </a:rPr>
              <a:t>sql/tests/verify_rules.sql prints PASS / FAIL for each</a:t>
            </a:r>
            <a:endParaRPr lang="en-US" sz="1200" dirty="0"/>
          </a:p>
        </p:txBody>
      </p:sp>
      <p:sp>
        <p:nvSpPr>
          <p:cNvPr id="10" name="Stat"/>
          <p:cNvSpPr/>
          <p:nvPr/>
        </p:nvSpPr>
        <p:spPr>
          <a:xfrm>
            <a:off x="2423160" y="1600200"/>
            <a:ext cx="1783080" cy="3017520"/>
          </a:xfrm>
          <a:prstGeom prst="roundRect">
            <a:avLst>
              <a:gd name="adj" fmla="val 6154"/>
            </a:avLst>
          </a:prstGeom>
          <a:solidFill>
            <a:schemeClr val="bg2"/>
          </a:solidFill>
          <a:ln w="12700">
            <a:solidFill>
              <a:schemeClr val="bg2"/>
            </a:solidFill>
            <a:prstDash val="solid"/>
          </a:ln>
        </p:spPr>
      </p:sp>
      <p:sp>
        <p:nvSpPr>
          <p:cNvPr id="11" name="Text 9"/>
          <p:cNvSpPr txBox="1"/>
          <p:nvPr/>
        </p:nvSpPr>
        <p:spPr>
          <a:xfrm>
            <a:off x="2423160" y="1783080"/>
            <a:ext cx="1783080" cy="914400"/>
          </a:xfrm>
          <a:prstGeom prst="rect">
            <a:avLst/>
          </a:prstGeom>
          <a:noFill/>
          <a:ln/>
        </p:spPr>
        <p:txBody>
          <a:bodyPr wrap="square" lIns="0" tIns="0" rIns="0" bIns="0" rtlCol="0" anchor="ctr"/>
          <a:lstStyle/>
          <a:p>
            <a:pPr algn="ctr" indent="0" marL="0">
              <a:buNone/>
            </a:pPr>
            <a:r>
              <a:rPr lang="en-US" sz="5400" b="1" dirty="0">
                <a:solidFill>
                  <a:schemeClr val="accent2"/>
                </a:solidFill>
              </a:rPr>
              <a:t>76</a:t>
            </a:r>
            <a:endParaRPr lang="en-US" sz="5400" dirty="0"/>
          </a:p>
        </p:txBody>
      </p:sp>
      <p:sp>
        <p:nvSpPr>
          <p:cNvPr id="12" name="Text 10"/>
          <p:cNvSpPr txBox="1"/>
          <p:nvPr/>
        </p:nvSpPr>
        <p:spPr>
          <a:xfrm>
            <a:off x="2560320" y="2743200"/>
            <a:ext cx="1508760" cy="685800"/>
          </a:xfrm>
          <a:prstGeom prst="rect">
            <a:avLst/>
          </a:prstGeom>
          <a:noFill/>
          <a:ln/>
        </p:spPr>
        <p:txBody>
          <a:bodyPr wrap="square" lIns="0" tIns="0" rIns="0" bIns="0" rtlCol="0" anchor="t"/>
          <a:lstStyle/>
          <a:p>
            <a:pPr algn="ctr" indent="0" marL="0">
              <a:buNone/>
            </a:pPr>
            <a:r>
              <a:rPr lang="en-US" sz="1400" b="1" dirty="0">
                <a:solidFill>
                  <a:schemeClr val="tx1"/>
                </a:solidFill>
              </a:rPr>
              <a:t>automated end-to-end app tests</a:t>
            </a:r>
            <a:endParaRPr lang="en-US" sz="1400" dirty="0"/>
          </a:p>
        </p:txBody>
      </p:sp>
      <p:sp>
        <p:nvSpPr>
          <p:cNvPr id="13" name="Text 11"/>
          <p:cNvSpPr txBox="1"/>
          <p:nvPr/>
        </p:nvSpPr>
        <p:spPr>
          <a:xfrm>
            <a:off x="2560320" y="3474720"/>
            <a:ext cx="1508760" cy="1051560"/>
          </a:xfrm>
          <a:prstGeom prst="rect">
            <a:avLst/>
          </a:prstGeom>
          <a:noFill/>
          <a:ln/>
        </p:spPr>
        <p:txBody>
          <a:bodyPr wrap="square" lIns="0" tIns="0" rIns="0" bIns="0" rtlCol="0" anchor="t"/>
          <a:lstStyle/>
          <a:p>
            <a:pPr algn="ctr" indent="0" marL="0">
              <a:buNone/>
            </a:pPr>
            <a:r>
              <a:rPr lang="en-US" sz="1200" dirty="0">
                <a:solidFill>
                  <a:srgbClr val="5B6478"/>
                </a:solidFill>
              </a:rPr>
              <a:t>every page, every role, rejections, CSV, injection attempts</a:t>
            </a:r>
            <a:endParaRPr lang="en-US" sz="1200" dirty="0"/>
          </a:p>
        </p:txBody>
      </p:sp>
      <p:sp>
        <p:nvSpPr>
          <p:cNvPr id="14" name="Stat"/>
          <p:cNvSpPr/>
          <p:nvPr/>
        </p:nvSpPr>
        <p:spPr>
          <a:xfrm>
            <a:off x="4389120" y="1600200"/>
            <a:ext cx="1783080" cy="3017520"/>
          </a:xfrm>
          <a:prstGeom prst="roundRect">
            <a:avLst>
              <a:gd name="adj" fmla="val 6154"/>
            </a:avLst>
          </a:prstGeom>
          <a:solidFill>
            <a:schemeClr val="bg2"/>
          </a:solidFill>
          <a:ln w="12700">
            <a:solidFill>
              <a:schemeClr val="bg2"/>
            </a:solidFill>
            <a:prstDash val="solid"/>
          </a:ln>
        </p:spPr>
      </p:sp>
      <p:sp>
        <p:nvSpPr>
          <p:cNvPr id="15" name="Text 13"/>
          <p:cNvSpPr txBox="1"/>
          <p:nvPr/>
        </p:nvSpPr>
        <p:spPr>
          <a:xfrm>
            <a:off x="4389120" y="1783080"/>
            <a:ext cx="1783080" cy="914400"/>
          </a:xfrm>
          <a:prstGeom prst="rect">
            <a:avLst/>
          </a:prstGeom>
          <a:noFill/>
          <a:ln/>
        </p:spPr>
        <p:txBody>
          <a:bodyPr wrap="square" lIns="0" tIns="0" rIns="0" bIns="0" rtlCol="0" anchor="ctr"/>
          <a:lstStyle/>
          <a:p>
            <a:pPr algn="ctr" indent="0" marL="0">
              <a:buNone/>
            </a:pPr>
            <a:r>
              <a:rPr lang="en-US" sz="5400" b="1" dirty="0">
                <a:solidFill>
                  <a:schemeClr val="accent4"/>
                </a:solidFill>
              </a:rPr>
              <a:t>33</a:t>
            </a:r>
            <a:endParaRPr lang="en-US" sz="5400" dirty="0"/>
          </a:p>
        </p:txBody>
      </p:sp>
      <p:sp>
        <p:nvSpPr>
          <p:cNvPr id="16" name="Text 14"/>
          <p:cNvSpPr txBox="1"/>
          <p:nvPr/>
        </p:nvSpPr>
        <p:spPr>
          <a:xfrm>
            <a:off x="4526280" y="2743200"/>
            <a:ext cx="1508760" cy="685800"/>
          </a:xfrm>
          <a:prstGeom prst="rect">
            <a:avLst/>
          </a:prstGeom>
          <a:noFill/>
          <a:ln/>
        </p:spPr>
        <p:txBody>
          <a:bodyPr wrap="square" lIns="0" tIns="0" rIns="0" bIns="0" rtlCol="0" anchor="t"/>
          <a:lstStyle/>
          <a:p>
            <a:pPr algn="ctr" indent="0" marL="0">
              <a:buNone/>
            </a:pPr>
            <a:r>
              <a:rPr lang="en-US" sz="1400" b="1" dirty="0">
                <a:solidFill>
                  <a:schemeClr val="tx1"/>
                </a:solidFill>
              </a:rPr>
              <a:t>of them on sign-in and security</a:t>
            </a:r>
            <a:endParaRPr lang="en-US" sz="1400" dirty="0"/>
          </a:p>
        </p:txBody>
      </p:sp>
      <p:sp>
        <p:nvSpPr>
          <p:cNvPr id="17" name="Text 15"/>
          <p:cNvSpPr txBox="1"/>
          <p:nvPr/>
        </p:nvSpPr>
        <p:spPr>
          <a:xfrm>
            <a:off x="4526280" y="3474720"/>
            <a:ext cx="1508760" cy="1051560"/>
          </a:xfrm>
          <a:prstGeom prst="rect">
            <a:avLst/>
          </a:prstGeom>
          <a:noFill/>
          <a:ln/>
        </p:spPr>
        <p:txBody>
          <a:bodyPr wrap="square" lIns="0" tIns="0" rIns="0" bIns="0" rtlCol="0" anchor="t"/>
          <a:lstStyle/>
          <a:p>
            <a:pPr algn="ctr" indent="0" marL="0">
              <a:buNone/>
            </a:pPr>
            <a:r>
              <a:rPr lang="en-US" sz="1200" dirty="0">
                <a:solidFill>
                  <a:srgbClr val="5B6478"/>
                </a:solidFill>
              </a:rPr>
              <a:t>lockout, CSRF, 403 / 404, password reset, privacy</a:t>
            </a:r>
            <a:endParaRPr lang="en-US" sz="1200" dirty="0"/>
          </a:p>
        </p:txBody>
      </p:sp>
      <p:sp>
        <p:nvSpPr>
          <p:cNvPr id="18" name="Text 16"/>
          <p:cNvSpPr txBox="1"/>
          <p:nvPr/>
        </p:nvSpPr>
        <p:spPr>
          <a:xfrm>
            <a:off x="457200" y="4846320"/>
            <a:ext cx="576072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WHAT THE 20 RULE CHECKS COVER</a:t>
            </a:r>
            <a:endParaRPr lang="en-US" sz="1100" dirty="0"/>
          </a:p>
        </p:txBody>
      </p:sp>
      <p:sp>
        <p:nvSpPr>
          <p:cNvPr id="19" name="Text 17"/>
          <p:cNvSpPr txBox="1"/>
          <p:nvPr/>
        </p:nvSpPr>
        <p:spPr>
          <a:xfrm>
            <a:off x="457200" y="5120640"/>
            <a:ext cx="5760720" cy="1234440"/>
          </a:xfrm>
          <a:prstGeom prst="rect">
            <a:avLst/>
          </a:prstGeom>
          <a:noFill/>
          <a:ln/>
        </p:spPr>
        <p:txBody>
          <a:bodyPr wrap="square" lIns="0" tIns="0" rIns="0" bIns="0" rtlCol="0" anchor="t"/>
          <a:lstStyle/>
          <a:p>
            <a:pPr indent="0" marL="0">
              <a:buNone/>
            </a:pPr>
            <a:r>
              <a:rPr lang="en-US" sz="1300" dirty="0">
                <a:solidFill>
                  <a:schemeClr val="tx1"/>
                </a:solidFill>
              </a:rPr>
              <a:t>Valid booking · overlap · rollback · back-to-back · end &lt; start · two bookers · bad foreign key · cancel and rebook · T4 · booking a closed room · T5 · issue (T2) · out of stock · return (T3) · double return · duplicate UNIQUE · capacity CHECK · RESTRICT delete · object counts · index</a:t>
            </a:r>
            <a:endParaRPr lang="en-US" sz="1300" dirty="0"/>
          </a:p>
        </p:txBody>
      </p:sp>
      <p:sp>
        <p:nvSpPr>
          <p:cNvPr id="2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21" name="Text 19"/>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RUN IN WORKBENCH · SLIDE 18</a:t>
            </a:r>
            <a:endParaRPr lang="en-US" sz="1100" dirty="0"/>
          </a:p>
        </p:txBody>
      </p:sp>
      <p:sp>
        <p:nvSpPr>
          <p:cNvPr id="2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File &gt; Open SQL Script &gt;</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sql/tests/verify_rules.sql</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click the lightning bolt (run all)</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result tab 1: one row per test</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  test                     result</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1  Valid booking            PASS</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2  Overlap rejected (T1)    PASS</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20 Booking slot index       PASS</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result tab 2:  passed 20 · failed 0</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uses a throw-away "ZZ SelfTest Room",</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dates 400 days ahead, cleans up after itself</a:t>
            </a:r>
            <a:endParaRPr lang="en-US" sz="1100" dirty="0"/>
          </a:p>
        </p:txBody>
      </p:sp>
      <p:sp>
        <p:nvSpPr>
          <p:cNvPr id="2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24" name="Text 22"/>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every trigger, procedure and constraint was tested on the real MySQL server.</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9326880" cy="658368"/>
          </a:xfrm>
          <a:prstGeom prst="rect">
            <a:avLst/>
          </a:prstGeom>
          <a:noFill/>
          <a:ln/>
        </p:spPr>
        <p:txBody>
          <a:bodyPr wrap="square" lIns="0" tIns="0" rIns="0" bIns="0" rtlCol="0" anchor="ctr"/>
          <a:lstStyle/>
          <a:p>
            <a:pPr algn="l" indent="0" marL="0">
              <a:buNone/>
            </a:pPr>
            <a:r>
              <a:rPr lang="en-US" sz="3000" b="1" dirty="0">
                <a:solidFill>
                  <a:schemeClr val="tx2"/>
                </a:solidFill>
              </a:rPr>
              <a:t>Two people, same slot, same moment</a:t>
            </a:r>
            <a:endParaRPr lang="en-US" sz="3000" dirty="0"/>
          </a:p>
        </p:txBody>
      </p:sp>
      <p:sp>
        <p:nvSpPr>
          <p:cNvPr id="3" name="Presenter"/>
          <p:cNvSpPr/>
          <p:nvPr/>
        </p:nvSpPr>
        <p:spPr>
          <a:xfrm>
            <a:off x="10012680" y="429768"/>
            <a:ext cx="1719072" cy="402336"/>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10012680" y="429768"/>
            <a:ext cx="1719072" cy="402336"/>
          </a:xfrm>
          <a:prstGeom prst="rect">
            <a:avLst/>
          </a:prstGeom>
          <a:noFill/>
          <a:ln/>
        </p:spPr>
        <p:txBody>
          <a:bodyPr wrap="square" lIns="0" tIns="0" rIns="0" bIns="0" rtlCol="0" anchor="ctr"/>
          <a:lstStyle/>
          <a:p>
            <a:pPr algn="ctr" indent="0" marL="0">
              <a:buNone/>
            </a:pPr>
            <a:r>
              <a:rPr lang="en-US" sz="1200" b="1" dirty="0">
                <a:solidFill>
                  <a:schemeClr val="bg1"/>
                </a:solidFill>
              </a:rPr>
              <a:t>Presented by Affan</a:t>
            </a:r>
            <a:endParaRPr lang="en-US" sz="1200" dirty="0"/>
          </a:p>
        </p:txBody>
      </p:sp>
      <p:sp>
        <p:nvSpPr>
          <p:cNvPr id="5" name="Text 3"/>
          <p:cNvSpPr txBox="1"/>
          <p:nvPr/>
        </p:nvSpPr>
        <p:spPr>
          <a:xfrm>
            <a:off x="457200" y="950976"/>
            <a:ext cx="9326880" cy="329184"/>
          </a:xfrm>
          <a:prstGeom prst="rect">
            <a:avLst/>
          </a:prstGeom>
          <a:noFill/>
          <a:ln/>
        </p:spPr>
        <p:txBody>
          <a:bodyPr wrap="square" lIns="0" tIns="0" rIns="0" bIns="0" rtlCol="0" anchor="ctr"/>
          <a:lstStyle/>
          <a:p>
            <a:pPr indent="0" marL="0">
              <a:buNone/>
            </a:pPr>
            <a:r>
              <a:rPr lang="en-US" sz="1500" i="1" dirty="0">
                <a:solidFill>
                  <a:schemeClr val="accent1"/>
                </a:solidFill>
              </a:rPr>
              <a:t>Transaction isolation: the row lock makes the second booking wait, then T1 refuses it</a:t>
            </a:r>
            <a:endParaRPr lang="en-US" sz="1500" dirty="0"/>
          </a:p>
        </p:txBody>
      </p:sp>
      <p:sp>
        <p:nvSpPr>
          <p:cNvPr id="6" name="Screenshot frame"/>
          <p:cNvSpPr/>
          <p:nvPr/>
        </p:nvSpPr>
        <p:spPr>
          <a:xfrm>
            <a:off x="438912" y="1444752"/>
            <a:ext cx="5660136" cy="3551301"/>
          </a:xfrm>
          <a:prstGeom prst="rect">
            <a:avLst/>
          </a:prstGeom>
          <a:solidFill>
            <a:schemeClr val="bg1"/>
          </a:solidFill>
          <a:ln w="9525">
            <a:solidFill>
              <a:srgbClr val="CBD5E1"/>
            </a:solidFill>
            <a:prstDash val="solid"/>
          </a:ln>
          <a:effectLst>
            <a:outerShdw sx="100000" sy="100000" kx="0" ky="0" algn="bl" rotWithShape="0" blurRad="76200" dist="25400" dir="5400000">
              <a:srgbClr val="0F172A">
                <a:alpha val="18000"/>
              </a:srgbClr>
            </a:outerShdw>
          </a:effectLst>
        </p:spPr>
      </p:sp>
      <p:pic>
        <p:nvPicPr>
          <p:cNvPr id="7" name="Image 0" descr="CampusHub screenshot">    </p:cNvPr>
          <p:cNvPicPr>
            <a:picLocks noChangeAspect="1"/>
          </p:cNvPicPr>
          <p:nvPr/>
        </p:nvPicPr>
        <p:blipFill>
          <a:blip r:embed="rId1"/>
          <a:stretch>
            <a:fillRect/>
          </a:stretch>
        </p:blipFill>
        <p:spPr>
          <a:xfrm>
            <a:off x="457200" y="1463040"/>
            <a:ext cx="5623560" cy="3514725"/>
          </a:xfrm>
          <a:prstGeom prst="rect">
            <a:avLst/>
          </a:prstGeom>
        </p:spPr>
      </p:pic>
      <p:sp>
        <p:nvSpPr>
          <p:cNvPr id="8" name="Text 5"/>
          <p:cNvSpPr txBox="1"/>
          <p:nvPr/>
        </p:nvSpPr>
        <p:spPr>
          <a:xfrm>
            <a:off x="457200" y="5178933"/>
            <a:ext cx="5623560" cy="256032"/>
          </a:xfrm>
          <a:prstGeom prst="rect">
            <a:avLst/>
          </a:prstGeom>
          <a:noFill/>
          <a:ln/>
        </p:spPr>
        <p:txBody>
          <a:bodyPr wrap="square" lIns="0" tIns="0" rIns="0" bIns="0" rtlCol="0" anchor="ctr"/>
          <a:lstStyle/>
          <a:p>
            <a:pPr indent="0" marL="0">
              <a:buNone/>
            </a:pPr>
            <a:r>
              <a:rPr lang="en-US" sz="1100" b="1" spc="100" kern="0" dirty="0">
                <a:solidFill>
                  <a:schemeClr val="accent1"/>
                </a:solidFill>
              </a:rPr>
              <a:t>ON THE WEBSITE</a:t>
            </a:r>
            <a:endParaRPr lang="en-US" sz="1100" dirty="0"/>
          </a:p>
        </p:txBody>
      </p:sp>
      <p:sp>
        <p:nvSpPr>
          <p:cNvPr id="9" name="Website steps"/>
          <p:cNvSpPr txBox="1"/>
          <p:nvPr/>
        </p:nvSpPr>
        <p:spPr>
          <a:xfrm>
            <a:off x="457200" y="5453253"/>
            <a:ext cx="5623560" cy="901827"/>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400" dirty="0">
                <a:solidFill>
                  <a:schemeClr val="tx1"/>
                </a:solidFill>
              </a:rPr>
              <a:t>Workbench: open two query tabs, A and B</a:t>
            </a:r>
            <a:endParaRPr lang="en-US" sz="1400" dirty="0"/>
          </a:p>
          <a:p>
            <a:pPr marL="342900" indent="-342900">
              <a:spcAft>
                <a:spcPts val="300"/>
              </a:spcAft>
              <a:buSzPct val="100000"/>
              <a:buFont typeface="+mj-lt"/>
              <a:buAutoNum type="arabicPeriod" startAt="1"/>
            </a:pPr>
            <a:r>
              <a:rPr lang="en-US" sz="1400" dirty="0">
                <a:solidFill>
                  <a:schemeClr val="tx1"/>
                </a:solidFill>
              </a:rPr>
              <a:t>Run Tab A's lines, then Tab B: B keeps spinning</a:t>
            </a:r>
            <a:endParaRPr lang="en-US" sz="1400" dirty="0"/>
          </a:p>
          <a:p>
            <a:pPr marL="342900" indent="-342900">
              <a:spcAft>
                <a:spcPts val="300"/>
              </a:spcAft>
              <a:buSzPct val="100000"/>
              <a:buFont typeface="+mj-lt"/>
              <a:buAutoNum type="arabicPeriod" startAt="1"/>
            </a:pPr>
            <a:r>
              <a:rPr lang="en-US" sz="1400" dirty="0">
                <a:solidFill>
                  <a:schemeClr val="tx1"/>
                </a:solidFill>
              </a:rPr>
              <a:t>COMMIT in A: B finishes with 'overlaps' (then clean up)</a:t>
            </a:r>
            <a:endParaRPr lang="en-US" sz="1400" dirty="0"/>
          </a:p>
        </p:txBody>
      </p:sp>
      <p:sp>
        <p:nvSpPr>
          <p:cNvPr id="10" name="Workbench query panel"/>
          <p:cNvSpPr/>
          <p:nvPr/>
        </p:nvSpPr>
        <p:spPr>
          <a:xfrm>
            <a:off x="6355080" y="1463040"/>
            <a:ext cx="5376672" cy="3886200"/>
          </a:xfrm>
          <a:prstGeom prst="roundRect">
            <a:avLst>
              <a:gd name="adj" fmla="val 2824"/>
            </a:avLst>
          </a:prstGeom>
          <a:solidFill>
            <a:schemeClr val="tx2"/>
          </a:solidFill>
          <a:ln w="12700">
            <a:solidFill>
              <a:schemeClr val="tx2"/>
            </a:solidFill>
            <a:prstDash val="solid"/>
          </a:ln>
        </p:spPr>
      </p:sp>
      <p:sp>
        <p:nvSpPr>
          <p:cNvPr id="11" name="Text 8"/>
          <p:cNvSpPr txBox="1"/>
          <p:nvPr/>
        </p:nvSpPr>
        <p:spPr>
          <a:xfrm>
            <a:off x="6583680" y="1609344"/>
            <a:ext cx="4919472" cy="292608"/>
          </a:xfrm>
          <a:prstGeom prst="rect">
            <a:avLst/>
          </a:prstGeom>
          <a:noFill/>
          <a:ln/>
        </p:spPr>
        <p:txBody>
          <a:bodyPr wrap="square" lIns="0" tIns="0" rIns="0" bIns="0" rtlCol="0" anchor="ctr"/>
          <a:lstStyle/>
          <a:p>
            <a:pPr indent="0" marL="0">
              <a:buNone/>
            </a:pPr>
            <a:r>
              <a:rPr lang="en-US" sz="1100" b="1" spc="100" kern="0" dirty="0">
                <a:solidFill>
                  <a:schemeClr val="accent5"/>
                </a:solidFill>
              </a:rPr>
              <a:t>WORKBENCH · TWO TABS · SLIDE 19</a:t>
            </a:r>
            <a:endParaRPr lang="en-US" sz="1100" dirty="0"/>
          </a:p>
        </p:txBody>
      </p:sp>
      <p:sp>
        <p:nvSpPr>
          <p:cNvPr id="12" name="SQL"/>
          <p:cNvSpPr txBox="1"/>
          <p:nvPr/>
        </p:nvSpPr>
        <p:spPr>
          <a:xfrm>
            <a:off x="6583680" y="1965960"/>
            <a:ext cx="5010912" cy="3246120"/>
          </a:xfrm>
          <a:prstGeom prst="rect">
            <a:avLst/>
          </a:prstGeom>
          <a:noFill/>
          <a:ln/>
        </p:spPr>
        <p:txBody>
          <a:bodyPr wrap="square" lIns="0" tIns="0" rIns="0" bIns="0" rtlCol="0" anchor="t"/>
          <a:lstStyle/>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TAB A</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START TRANSACTION;</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SELECT * FROM facility</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WHERE facility_id = 1 FOR UPDATE;</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INSERT INTO booking (facility_id, student_id,</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faculty_id, booking_date, start_time,</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end_time, purpose)</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VALUES (1, 1, NULL, CURDATE() + INTERVAL 30 DAY,</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'07:00', '08:00', 'lock test A');</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TAB B  (waits for Tab A's lock)</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CALL sp_create_booking(1, 2, NULL,</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CURDATE() + INTERVAL 30 DAY,</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  '07:30', '08:30', 'lock test B', @id);</a:t>
            </a:r>
            <a:endParaRPr lang="en-US" sz="1100" dirty="0"/>
          </a:p>
          <a:p>
            <a:pPr indent="0" marL="0">
              <a:lnSpc>
                <a:spcPct val="100000"/>
              </a:lnSpc>
              <a:buNone/>
            </a:pPr>
            <a:r>
              <a:rPr lang="en-US" sz="1100" dirty="0">
                <a:solidFill>
                  <a:srgbClr val="8FA1C7"/>
                </a:solidFill>
                <a:latin typeface="Courier New" pitchFamily="34" charset="0"/>
                <a:ea typeface="Courier New" pitchFamily="34" charset="-122"/>
                <a:cs typeface="Courier New" pitchFamily="34" charset="-120"/>
              </a:rPr>
              <a:t>-- TAB A</a:t>
            </a:r>
            <a:endParaRPr lang="en-US" sz="1100" dirty="0"/>
          </a:p>
          <a:p>
            <a:pPr indent="0" marL="0">
              <a:lnSpc>
                <a:spcPct val="100000"/>
              </a:lnSpc>
              <a:buNone/>
            </a:pPr>
            <a:r>
              <a:rPr lang="en-US" sz="1100" dirty="0">
                <a:solidFill>
                  <a:srgbClr val="E6EBF7"/>
                </a:solidFill>
                <a:latin typeface="Courier New" pitchFamily="34" charset="0"/>
                <a:ea typeface="Courier New" pitchFamily="34" charset="-122"/>
                <a:cs typeface="Courier New" pitchFamily="34" charset="-120"/>
              </a:rPr>
              <a:t>COMMIT;  -- Tab B: Time slot overlaps ...</a:t>
            </a:r>
            <a:endParaRPr lang="en-US" sz="1100" dirty="0"/>
          </a:p>
        </p:txBody>
      </p:sp>
      <p:sp>
        <p:nvSpPr>
          <p:cNvPr id="13" name="What it proves"/>
          <p:cNvSpPr/>
          <p:nvPr/>
        </p:nvSpPr>
        <p:spPr>
          <a:xfrm>
            <a:off x="6355080" y="5504688"/>
            <a:ext cx="5376672" cy="850392"/>
          </a:xfrm>
          <a:prstGeom prst="roundRect">
            <a:avLst>
              <a:gd name="adj" fmla="val 10753"/>
            </a:avLst>
          </a:prstGeom>
          <a:solidFill>
            <a:schemeClr val="accent6"/>
          </a:solidFill>
          <a:ln w="12700">
            <a:solidFill>
              <a:schemeClr val="accent6"/>
            </a:solidFill>
            <a:prstDash val="solid"/>
          </a:ln>
        </p:spPr>
      </p:sp>
      <p:sp>
        <p:nvSpPr>
          <p:cNvPr id="14" name="Text 11"/>
          <p:cNvSpPr txBox="1"/>
          <p:nvPr/>
        </p:nvSpPr>
        <p:spPr>
          <a:xfrm>
            <a:off x="6537960" y="5504688"/>
            <a:ext cx="5029200" cy="850392"/>
          </a:xfrm>
          <a:prstGeom prst="rect">
            <a:avLst/>
          </a:prstGeom>
          <a:noFill/>
          <a:ln/>
        </p:spPr>
        <p:txBody>
          <a:bodyPr wrap="square" lIns="0" tIns="0" rIns="0" bIns="0" rtlCol="0" anchor="ctr"/>
          <a:lstStyle/>
          <a:p>
            <a:pPr indent="0" marL="0">
              <a:buNone/>
            </a:pPr>
            <a:r>
              <a:rPr lang="en-US" sz="1400" b="1" dirty="0">
                <a:solidFill>
                  <a:schemeClr val="accent1"/>
                </a:solidFill>
              </a:rPr>
              <a:t>Proves: </a:t>
            </a:r>
            <a:pPr indent="0" marL="0">
              <a:buNone/>
            </a:pPr>
            <a:r>
              <a:rPr lang="en-US" sz="1400" dirty="0">
                <a:solidFill>
                  <a:schemeClr val="tx1"/>
                </a:solidFill>
              </a:rPr>
              <a:t>without the lock both could pass the check at once; with it they are serialised.</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594360"/>
            <a:ext cx="5486400"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WHAT WE BUILT</a:t>
            </a:r>
            <a:endParaRPr lang="en-US" sz="1200" dirty="0"/>
          </a:p>
        </p:txBody>
      </p:sp>
      <p:sp>
        <p:nvSpPr>
          <p:cNvPr id="3" name="Text 1"/>
          <p:cNvSpPr txBox="1"/>
          <p:nvPr/>
        </p:nvSpPr>
        <p:spPr>
          <a:xfrm>
            <a:off x="548640" y="960120"/>
            <a:ext cx="10972800" cy="731520"/>
          </a:xfrm>
          <a:prstGeom prst="rect">
            <a:avLst/>
          </a:prstGeom>
          <a:noFill/>
          <a:ln/>
        </p:spPr>
        <p:txBody>
          <a:bodyPr wrap="square" lIns="0" tIns="0" rIns="0" bIns="0" rtlCol="0" anchor="ctr"/>
          <a:lstStyle/>
          <a:p>
            <a:pPr indent="0" marL="0">
              <a:buNone/>
            </a:pPr>
            <a:r>
              <a:rPr lang="en-US" sz="3400" b="1" dirty="0">
                <a:solidFill>
                  <a:schemeClr val="bg1"/>
                </a:solidFill>
              </a:rPr>
              <a:t>A campus database that refuses bad data by itself</a:t>
            </a:r>
            <a:endParaRPr lang="en-US" sz="3400" dirty="0"/>
          </a:p>
        </p:txBody>
      </p:sp>
      <p:sp>
        <p:nvSpPr>
          <p:cNvPr id="4" name="Icon circle"/>
          <p:cNvSpPr/>
          <p:nvPr/>
        </p:nvSpPr>
        <p:spPr>
          <a:xfrm>
            <a:off x="548640" y="2011680"/>
            <a:ext cx="685800" cy="685800"/>
          </a:xfrm>
          <a:prstGeom prst="ellipse">
            <a:avLst/>
          </a:prstGeom>
          <a:solidFill>
            <a:schemeClr val="accent1"/>
          </a:solidFill>
          <a:ln w="12700">
            <a:solidFill>
              <a:schemeClr val="accent1"/>
            </a:solidFill>
            <a:prstDash val="solid"/>
          </a:ln>
        </p:spPr>
      </p:sp>
      <p:pic>
        <p:nvPicPr>
          <p:cNvPr id="5" name="Image 0" descr="No double bookings">    </p:cNvPr>
          <p:cNvPicPr>
            <a:picLocks noChangeAspect="1"/>
          </p:cNvPicPr>
          <p:nvPr/>
        </p:nvPicPr>
        <p:blipFill>
          <a:blip r:embed="rId1"/>
          <a:stretch>
            <a:fillRect/>
          </a:stretch>
        </p:blipFill>
        <p:spPr>
          <a:xfrm>
            <a:off x="722376" y="2185416"/>
            <a:ext cx="338328" cy="338328"/>
          </a:xfrm>
          <a:prstGeom prst="rect">
            <a:avLst/>
          </a:prstGeom>
        </p:spPr>
      </p:pic>
      <p:sp>
        <p:nvSpPr>
          <p:cNvPr id="6" name="Text 3"/>
          <p:cNvSpPr txBox="1"/>
          <p:nvPr/>
        </p:nvSpPr>
        <p:spPr>
          <a:xfrm>
            <a:off x="1417320" y="1965960"/>
            <a:ext cx="4480560" cy="822960"/>
          </a:xfrm>
          <a:prstGeom prst="rect">
            <a:avLst/>
          </a:prstGeom>
          <a:noFill/>
          <a:ln/>
        </p:spPr>
        <p:txBody>
          <a:bodyPr wrap="square" lIns="0" tIns="0" rIns="0" bIns="0" rtlCol="0" anchor="ctr"/>
          <a:lstStyle/>
          <a:p>
            <a:pPr indent="0" marL="0">
              <a:buNone/>
            </a:pPr>
            <a:r>
              <a:rPr lang="en-US" sz="1800" b="1" dirty="0">
                <a:solidFill>
                  <a:schemeClr val="bg1"/>
                </a:solidFill>
              </a:rPr>
              <a:t>No double bookings</a:t>
            </a:r>
            <a:endParaRPr lang="en-US" sz="1800" dirty="0"/>
          </a:p>
          <a:p>
            <a:pPr indent="0" marL="0">
              <a:buNone/>
            </a:pPr>
            <a:r>
              <a:rPr lang="en-US" sz="1400" dirty="0">
                <a:solidFill>
                  <a:srgbClr val="A9B6CF"/>
                </a:solidFill>
              </a:rPr>
              <a:t>trigger T1 + transaction with row lock</a:t>
            </a:r>
            <a:endParaRPr lang="en-US" sz="1800" dirty="0"/>
          </a:p>
        </p:txBody>
      </p:sp>
      <p:sp>
        <p:nvSpPr>
          <p:cNvPr id="7" name="Icon circle"/>
          <p:cNvSpPr/>
          <p:nvPr/>
        </p:nvSpPr>
        <p:spPr>
          <a:xfrm>
            <a:off x="6172200" y="2011680"/>
            <a:ext cx="685800" cy="685800"/>
          </a:xfrm>
          <a:prstGeom prst="ellipse">
            <a:avLst/>
          </a:prstGeom>
          <a:solidFill>
            <a:schemeClr val="accent1"/>
          </a:solidFill>
          <a:ln w="12700">
            <a:solidFill>
              <a:schemeClr val="accent1"/>
            </a:solidFill>
            <a:prstDash val="solid"/>
          </a:ln>
        </p:spPr>
      </p:sp>
      <p:pic>
        <p:nvPicPr>
          <p:cNvPr id="8" name="Image 1" descr="Stock and rooms kept correct">    </p:cNvPr>
          <p:cNvPicPr>
            <a:picLocks noChangeAspect="1"/>
          </p:cNvPicPr>
          <p:nvPr/>
        </p:nvPicPr>
        <p:blipFill>
          <a:blip r:embed="rId2"/>
          <a:stretch>
            <a:fillRect/>
          </a:stretch>
        </p:blipFill>
        <p:spPr>
          <a:xfrm>
            <a:off x="6345936" y="2185416"/>
            <a:ext cx="338328" cy="338328"/>
          </a:xfrm>
          <a:prstGeom prst="rect">
            <a:avLst/>
          </a:prstGeom>
        </p:spPr>
      </p:pic>
      <p:sp>
        <p:nvSpPr>
          <p:cNvPr id="9" name="Text 5"/>
          <p:cNvSpPr txBox="1"/>
          <p:nvPr/>
        </p:nvSpPr>
        <p:spPr>
          <a:xfrm>
            <a:off x="7040880" y="1965960"/>
            <a:ext cx="4480560" cy="822960"/>
          </a:xfrm>
          <a:prstGeom prst="rect">
            <a:avLst/>
          </a:prstGeom>
          <a:noFill/>
          <a:ln/>
        </p:spPr>
        <p:txBody>
          <a:bodyPr wrap="square" lIns="0" tIns="0" rIns="0" bIns="0" rtlCol="0" anchor="ctr"/>
          <a:lstStyle/>
          <a:p>
            <a:pPr indent="0" marL="0">
              <a:buNone/>
            </a:pPr>
            <a:r>
              <a:rPr lang="en-US" sz="1800" b="1" dirty="0">
                <a:solidFill>
                  <a:schemeClr val="bg1"/>
                </a:solidFill>
              </a:rPr>
              <a:t>Stock and rooms kept correct</a:t>
            </a:r>
            <a:endParaRPr lang="en-US" sz="1800" dirty="0"/>
          </a:p>
          <a:p>
            <a:pPr indent="0" marL="0">
              <a:buNone/>
            </a:pPr>
            <a:r>
              <a:rPr lang="en-US" sz="1400" dirty="0">
                <a:solidFill>
                  <a:srgbClr val="A9B6CF"/>
                </a:solidFill>
              </a:rPr>
              <a:t>triggers T2–T5, no manual updates</a:t>
            </a:r>
            <a:endParaRPr lang="en-US" sz="1800" dirty="0"/>
          </a:p>
        </p:txBody>
      </p:sp>
      <p:sp>
        <p:nvSpPr>
          <p:cNvPr id="10" name="Icon circle"/>
          <p:cNvSpPr/>
          <p:nvPr/>
        </p:nvSpPr>
        <p:spPr>
          <a:xfrm>
            <a:off x="548640" y="3246120"/>
            <a:ext cx="685800" cy="685800"/>
          </a:xfrm>
          <a:prstGeom prst="ellipse">
            <a:avLst/>
          </a:prstGeom>
          <a:solidFill>
            <a:schemeClr val="accent1"/>
          </a:solidFill>
          <a:ln w="12700">
            <a:solidFill>
              <a:schemeClr val="accent1"/>
            </a:solidFill>
            <a:prstDash val="solid"/>
          </a:ln>
        </p:spPr>
      </p:sp>
      <p:pic>
        <p:nvPicPr>
          <p:cNvPr id="11" name="Image 2" descr="Three roles, secure sign-in">    </p:cNvPr>
          <p:cNvPicPr>
            <a:picLocks noChangeAspect="1"/>
          </p:cNvPicPr>
          <p:nvPr/>
        </p:nvPicPr>
        <p:blipFill>
          <a:blip r:embed="rId3"/>
          <a:stretch>
            <a:fillRect/>
          </a:stretch>
        </p:blipFill>
        <p:spPr>
          <a:xfrm>
            <a:off x="722376" y="3419856"/>
            <a:ext cx="338328" cy="338328"/>
          </a:xfrm>
          <a:prstGeom prst="rect">
            <a:avLst/>
          </a:prstGeom>
        </p:spPr>
      </p:pic>
      <p:sp>
        <p:nvSpPr>
          <p:cNvPr id="12" name="Text 7"/>
          <p:cNvSpPr txBox="1"/>
          <p:nvPr/>
        </p:nvSpPr>
        <p:spPr>
          <a:xfrm>
            <a:off x="1417320" y="3200400"/>
            <a:ext cx="4480560" cy="822960"/>
          </a:xfrm>
          <a:prstGeom prst="rect">
            <a:avLst/>
          </a:prstGeom>
          <a:noFill/>
          <a:ln/>
        </p:spPr>
        <p:txBody>
          <a:bodyPr wrap="square" lIns="0" tIns="0" rIns="0" bIns="0" rtlCol="0" anchor="ctr"/>
          <a:lstStyle/>
          <a:p>
            <a:pPr indent="0" marL="0">
              <a:buNone/>
            </a:pPr>
            <a:r>
              <a:rPr lang="en-US" sz="1800" b="1" dirty="0">
                <a:solidFill>
                  <a:schemeClr val="bg1"/>
                </a:solidFill>
              </a:rPr>
              <a:t>Three roles, secure sign-in</a:t>
            </a:r>
            <a:endParaRPr lang="en-US" sz="1800" dirty="0"/>
          </a:p>
          <a:p>
            <a:pPr indent="0" marL="0">
              <a:buNone/>
            </a:pPr>
            <a:r>
              <a:rPr lang="en-US" sz="1400" dirty="0">
                <a:solidFill>
                  <a:srgbClr val="A9B6CF"/>
                </a:solidFill>
              </a:rPr>
              <a:t>hashed passwords, lockout, CSRF, own data only</a:t>
            </a:r>
            <a:endParaRPr lang="en-US" sz="1800" dirty="0"/>
          </a:p>
        </p:txBody>
      </p:sp>
      <p:sp>
        <p:nvSpPr>
          <p:cNvPr id="13" name="Icon circle"/>
          <p:cNvSpPr/>
          <p:nvPr/>
        </p:nvSpPr>
        <p:spPr>
          <a:xfrm>
            <a:off x="6172200" y="3246120"/>
            <a:ext cx="685800" cy="685800"/>
          </a:xfrm>
          <a:prstGeom prst="ellipse">
            <a:avLst/>
          </a:prstGeom>
          <a:solidFill>
            <a:schemeClr val="accent1"/>
          </a:solidFill>
          <a:ln w="12700">
            <a:solidFill>
              <a:schemeClr val="accent1"/>
            </a:solidFill>
            <a:prstDash val="solid"/>
          </a:ln>
        </p:spPr>
      </p:sp>
      <p:pic>
        <p:nvPicPr>
          <p:cNvPr id="14" name="Image 3" descr="Live dashboards and reports">    </p:cNvPr>
          <p:cNvPicPr>
            <a:picLocks noChangeAspect="1"/>
          </p:cNvPicPr>
          <p:nvPr/>
        </p:nvPicPr>
        <p:blipFill>
          <a:blip r:embed="rId4"/>
          <a:stretch>
            <a:fillRect/>
          </a:stretch>
        </p:blipFill>
        <p:spPr>
          <a:xfrm>
            <a:off x="6345936" y="3419856"/>
            <a:ext cx="338328" cy="338328"/>
          </a:xfrm>
          <a:prstGeom prst="rect">
            <a:avLst/>
          </a:prstGeom>
        </p:spPr>
      </p:pic>
      <p:sp>
        <p:nvSpPr>
          <p:cNvPr id="15" name="Text 9"/>
          <p:cNvSpPr txBox="1"/>
          <p:nvPr/>
        </p:nvSpPr>
        <p:spPr>
          <a:xfrm>
            <a:off x="7040880" y="3200400"/>
            <a:ext cx="4480560" cy="822960"/>
          </a:xfrm>
          <a:prstGeom prst="rect">
            <a:avLst/>
          </a:prstGeom>
          <a:noFill/>
          <a:ln/>
        </p:spPr>
        <p:txBody>
          <a:bodyPr wrap="square" lIns="0" tIns="0" rIns="0" bIns="0" rtlCol="0" anchor="ctr"/>
          <a:lstStyle/>
          <a:p>
            <a:pPr indent="0" marL="0">
              <a:buNone/>
            </a:pPr>
            <a:r>
              <a:rPr lang="en-US" sz="1800" b="1" dirty="0">
                <a:solidFill>
                  <a:schemeClr val="bg1"/>
                </a:solidFill>
              </a:rPr>
              <a:t>Live dashboards and reports</a:t>
            </a:r>
            <a:endParaRPr lang="en-US" sz="1800" dirty="0"/>
          </a:p>
          <a:p>
            <a:pPr indent="0" marL="0">
              <a:buNone/>
            </a:pPr>
            <a:r>
              <a:rPr lang="en-US" sz="1400" dirty="0">
                <a:solidFill>
                  <a:srgbClr val="A9B6CF"/>
                </a:solidFill>
              </a:rPr>
              <a:t>views, GROUP BY, HAVING, CSV export</a:t>
            </a:r>
            <a:endParaRPr lang="en-US" sz="1800" dirty="0"/>
          </a:p>
        </p:txBody>
      </p:sp>
      <p:sp>
        <p:nvSpPr>
          <p:cNvPr id="16" name="Text 10"/>
          <p:cNvSpPr txBox="1"/>
          <p:nvPr/>
        </p:nvSpPr>
        <p:spPr>
          <a:xfrm>
            <a:off x="548640" y="4663440"/>
            <a:ext cx="5486400" cy="292608"/>
          </a:xfrm>
          <a:prstGeom prst="rect">
            <a:avLst/>
          </a:prstGeom>
          <a:noFill/>
          <a:ln/>
        </p:spPr>
        <p:txBody>
          <a:bodyPr wrap="square" lIns="0" tIns="0" rIns="0" bIns="0" rtlCol="0" anchor="ctr"/>
          <a:lstStyle/>
          <a:p>
            <a:pPr indent="0" marL="0">
              <a:buNone/>
            </a:pPr>
            <a:r>
              <a:rPr lang="en-US" sz="1200" b="1" spc="200" kern="0" dirty="0">
                <a:solidFill>
                  <a:schemeClr val="accent5"/>
                </a:solidFill>
              </a:rPr>
              <a:t>NEXT STEPS</a:t>
            </a:r>
            <a:endParaRPr lang="en-US" sz="1200" dirty="0"/>
          </a:p>
        </p:txBody>
      </p:sp>
      <p:sp>
        <p:nvSpPr>
          <p:cNvPr id="17" name="Text 11"/>
          <p:cNvSpPr txBox="1"/>
          <p:nvPr/>
        </p:nvSpPr>
        <p:spPr>
          <a:xfrm>
            <a:off x="548640" y="4983480"/>
            <a:ext cx="7863840" cy="868680"/>
          </a:xfrm>
          <a:prstGeom prst="rect">
            <a:avLst/>
          </a:prstGeom>
          <a:noFill/>
          <a:ln/>
        </p:spPr>
        <p:txBody>
          <a:bodyPr wrap="square" lIns="0" tIns="0" rIns="0" bIns="0" rtlCol="0" anchor="t"/>
          <a:lstStyle/>
          <a:p>
            <a:pPr indent="0" marL="0">
              <a:buNone/>
            </a:pPr>
            <a:r>
              <a:rPr lang="en-US" sz="1500" dirty="0">
                <a:solidFill>
                  <a:srgbClr val="CBD5E1"/>
                </a:solidFill>
              </a:rPr>
              <a:t>Password reset by e-mail and two-step sign-in · recurring bookings and approvals · nightly MySQL EVENT to close past bookings · e-mail reminders for overdue equipment</a:t>
            </a:r>
            <a:endParaRPr lang="en-US" sz="1500" dirty="0"/>
          </a:p>
        </p:txBody>
      </p:sp>
      <p:sp>
        <p:nvSpPr>
          <p:cNvPr id="18" name="Text 12"/>
          <p:cNvSpPr txBox="1"/>
          <p:nvPr/>
        </p:nvSpPr>
        <p:spPr>
          <a:xfrm>
            <a:off x="8595360" y="4892040"/>
            <a:ext cx="3063240" cy="731520"/>
          </a:xfrm>
          <a:prstGeom prst="rect">
            <a:avLst/>
          </a:prstGeom>
          <a:noFill/>
          <a:ln/>
        </p:spPr>
        <p:txBody>
          <a:bodyPr wrap="square" lIns="0" tIns="0" rIns="0" bIns="0" rtlCol="0" anchor="ctr"/>
          <a:lstStyle/>
          <a:p>
            <a:pPr algn="r" indent="0" marL="0">
              <a:buNone/>
            </a:pPr>
            <a:r>
              <a:rPr lang="en-US" sz="3600" b="1" dirty="0">
                <a:solidFill>
                  <a:schemeClr val="bg1"/>
                </a:solidFill>
              </a:rPr>
              <a:t>Thank you</a:t>
            </a:r>
            <a:endParaRPr lang="en-US" sz="3600" dirty="0"/>
          </a:p>
        </p:txBody>
      </p:sp>
      <p:sp>
        <p:nvSpPr>
          <p:cNvPr id="19" name="Text 13"/>
          <p:cNvSpPr txBox="1"/>
          <p:nvPr/>
        </p:nvSpPr>
        <p:spPr>
          <a:xfrm>
            <a:off x="8595360" y="5577840"/>
            <a:ext cx="3063240" cy="411480"/>
          </a:xfrm>
          <a:prstGeom prst="rect">
            <a:avLst/>
          </a:prstGeom>
          <a:noFill/>
          <a:ln/>
        </p:spPr>
        <p:txBody>
          <a:bodyPr wrap="square" lIns="0" tIns="0" rIns="0" bIns="0" rtlCol="0" anchor="ctr"/>
          <a:lstStyle/>
          <a:p>
            <a:pPr algn="r" indent="0" marL="0">
              <a:buNone/>
            </a:pPr>
            <a:r>
              <a:rPr lang="en-US" sz="1800" dirty="0">
                <a:solidFill>
                  <a:schemeClr val="accent5"/>
                </a:solidFill>
              </a:rPr>
              <a:t>Questions?</a:t>
            </a:r>
            <a:endParaRPr lang="en-US" sz="1800" dirty="0"/>
          </a:p>
        </p:txBody>
      </p:sp>
    </p:spTree>
  </p:cSld>
  <p:clrMapOvr>
    <a:masterClrMapping/>
  </p:clrMapOvr>
</p:sld>
</file>

<file path=ppt/theme/theme1.xml><?xml version="1.0" encoding="utf-8"?>
<a:theme xmlns:a="http://schemas.openxmlformats.org/drawingml/2006/main" name="CampusHub">
  <a:themeElements>
    <a:clrScheme name="CampusHub">
      <a:dk1>
        <a:srgbClr val="0F172A"/>
      </a:dk1>
      <a:lt1>
        <a:srgbClr val="FFFFFF"/>
      </a:lt1>
      <a:dk2>
        <a:srgbClr val="0C1A36"/>
      </a:dk2>
      <a:lt2>
        <a:srgbClr val="EEF2F7"/>
      </a:lt2>
      <a:accent1>
        <a:srgbClr val="0F766E"/>
      </a:accent1>
      <a:accent2>
        <a:srgbClr val="4F46E5"/>
      </a:accent2>
      <a:accent3>
        <a:srgbClr val="0F8F83"/>
      </a:accent3>
      <a:accent4>
        <a:srgbClr val="C26A06"/>
      </a:accent4>
      <a:accent5>
        <a:srgbClr val="5EEAD4"/>
      </a:accent5>
      <a:accent6>
        <a:srgbClr val="E6F6F4"/>
      </a:accent6>
      <a:hlink>
        <a:srgbClr val="0F766E"/>
      </a:hlink>
      <a:folHlink>
        <a:srgbClr val="4F46E5"/>
      </a:folHlink>
    </a:clrScheme>
    <a:fontScheme name="CampusHub">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CampusHub - Review</dc:title>
  <dc:subject>PptxGenJS Presentation</dc:subject>
  <dc:creator>Mohammed Affan, Hardik Gupta, Arham Sadiq K</dc:creator>
  <cp:lastModifiedBy>Mohammed Affan, Hardik Gupta, Arham Sadiq K</cp:lastModifiedBy>
  <cp:revision>1</cp:revision>
  <dcterms:created xsi:type="dcterms:W3CDTF">2026-10-27T06:04:45Z</dcterms:created>
  <dcterms:modified xsi:type="dcterms:W3CDTF">2026-10-27T06:04:45Z</dcterms:modified>
</cp:coreProperties>
</file>